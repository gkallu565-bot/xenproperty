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Respected teachers and fellow students, today I am presenting XenProperty, an end-to-end full stack AI-driven real estate and architectural ecosystem. It solves real-world real estate fragmentation by combining verified property transactions, AI search, design studios, and mortgage eligibility.</a:t>
            </a:r>
          </a:p>
          <a:p/>
          <a:p>
            <a:r>
              <a:t>HINDI EXPLANATION (टीचर को समझाने के लिए):</a:t>
            </a:r>
          </a:p>
          <a:p>
            <a:r>
              <a:t>नमस्ते टीचर्स और साथियों! आज मैं पेश कर रहा हूँ XenProperty प्रोजेक्ट। यह एक कम्प्लीट फुल-स्टैक रियल एस्टेट इकोसिस्टम है जो प्रॉपर्टी खरीदने, बेचने, रेंट पर लेने के साथ-साथ आर्किटेक्चरल डिज़ाइन और होम लोन एलिजिबिलिटी को एक ही प्लेटफॉर्म पर जोड़ता 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Explain the contrast between existing market pain points and our solution. Emphasize that buyers currently struggle with fragmented tools, while XenProperty unifies everything into a single seamless journey.</a:t>
            </a:r>
          </a:p>
          <a:p/>
          <a:p>
            <a:r>
              <a:t>HINDI EXPLANATION (टीचर को समझाने के लिए):</a:t>
            </a:r>
          </a:p>
          <a:p>
            <a:r>
              <a:t>टीचर को समझाएं कि वर्तमान में जब कोई घर खरीदता है तो उसे 4 अलग वेबसाइट्स पर जाना पड़ता है। XenProperty इस पूरी समस्या को हल करके एक ऑल-इन-वन प्लेटफ़ॉर्म तैयार करता 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Highlight why we chose Vanilla JS over React/Angular: it eliminates framework bloat, achieves sub-300ms loading speeds, and showcases core JavaScript mastery. Explain why SQLite was chosen for zero-dependency portability.</a:t>
            </a:r>
          </a:p>
          <a:p/>
          <a:p>
            <a:r>
              <a:t>HINDI EXPLANATION (टीचर को समझाने के लिए):</a:t>
            </a:r>
          </a:p>
          <a:p>
            <a:r>
              <a:t>टीचर को बताएं कि हमने किसी भारी फ्रेमवर्क की जगह प्योर ES6+ जावास्क्रिप्ट और नोड.जेएस का उपयोग किया है जिससे वेबसाइट सुपरफास्ट (&lt;300ms) लोड होती है और जीरो-कॉन्फ़िगरेशन SQLite से किसी भी कंप्यूटर पर तुरंत चलती 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Walk through the database tables. Point out that properties store JSON serialized arrays for amenities and galleries, and highlight how status fields allow admins to track leads from pending to completed.</a:t>
            </a:r>
          </a:p>
          <a:p/>
          <a:p>
            <a:r>
              <a:t>HINDI EXPLANATION (टीचर को समझाने के लिए):</a:t>
            </a:r>
          </a:p>
          <a:p>
            <a:r>
              <a:t>डेटाबेस संरचना को समझाएं। 5 मुख्य टेबल्स हैं: users, properties, inquiries, loan_applications और design_requests। सभी में रिलेशनल फील्ड्स और स्टेटस ट्रैकिंग उपलब्ध 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Showcase index.html. Explain how the floating AI cards on the hero villa immediately give the platform a modern, AI-first technological feel that stands out from legacy real estate portals.</a:t>
            </a:r>
          </a:p>
          <a:p/>
          <a:p>
            <a:r>
              <a:t>HINDI EXPLANATION (टीचर को समझाने के लिए):</a:t>
            </a:r>
          </a:p>
          <a:p>
            <a:r>
              <a:t>होमपेज का मुख्य आकर्षण हीरो विला पर फ्लोटिंग AI बैज (94% Match, ₹48.5L Property Value) और 3-टैब सर्च फ़िल्टर है। 6 क्विक एक्शन कार्ड्स यूज़र को सीधे आवश्यक पेज पर ले जाते 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Demonstrate how our AI engine works on the backend: regex and keyword matching parse user intent, query the SQLite database dynamically, and return curated properties with computed match scores.</a:t>
            </a:r>
          </a:p>
          <a:p/>
          <a:p>
            <a:r>
              <a:t>HINDI EXPLANATION (टीचर को समझाने के लिए):</a:t>
            </a:r>
          </a:p>
          <a:p>
            <a:r>
              <a:t>टीचर को समझाएं कि AI इंजन कैसे काम करता है: जब यूज़र बोलता है 'Bangalore में 3 BHK villa', तो बैकएंड NLP पार्सर शहर और बेडरूम निकालकर 94% AI Match स्कोर के साथ सही घर दिखाता है। हर पेज पर फ्लोटिंग AI विज़िट भी उपलब्ध 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Explain the marketplace filtration logic in properties.js. Emphasize how URL query parameters persist filters across page reloads (e.g. ?city=Bangalore&amp;type=buy), and how the new Live Search Autocomplete provides instant feedback.</a:t>
            </a:r>
          </a:p>
          <a:p/>
          <a:p>
            <a:r>
              <a:t>HINDI EXPLANATION (टीचर को समझाने के लिए):</a:t>
            </a:r>
          </a:p>
          <a:p>
            <a:r>
              <a:t>समझाएं कि Buy और Rent पेजेस में रियल-टाइम फ़िल्टरिंग कैसे होती है। यूज़र शहर, बेडरूम, बजट चुनता है तो बिना पेज रीलोड हुए कार्ड्स अपडेट होते हैं। साथ ही हेडर में लाइव सर्च ऑटो-कंप्लीट भी जोड़ा गया 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Highlight that this was one of our key newly added features. Explain how xenFavorites manages client-side state in localStorage and how the WhatsApp Wishlist sharing solves a common collaborative home-buying problem.</a:t>
            </a:r>
          </a:p>
          <a:p/>
          <a:p>
            <a:r>
              <a:t>HINDI EXPLANATION (टीचर को समझाने के लिए):</a:t>
            </a:r>
          </a:p>
          <a:p>
            <a:r>
              <a:t>यह हमारा नया जोड़ा गया फ़ीचर है। फेवरिट्स को लोकल-स्टोरेज में सेव किया जाता है ताकि रीफ्रेश करने पर भी डाटा गायब न हो। स्लाइड-ओवर ड्रावर से पूरा विशलिस्ट व्हाट्सएप पर शेयर किया जा सकता 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Explain how xenComparison works: it collects property objects, calculates price-per-square-foot ratios on the fly, aggregates amenities, and renders an interactive side-by-side comparison matrix modal.</a:t>
            </a:r>
          </a:p>
          <a:p/>
          <a:p>
            <a:r>
              <a:t>HINDI EXPLANATION (टीचर को समझाने के लिए):</a:t>
            </a:r>
          </a:p>
          <a:p>
            <a:r>
              <a:t>प्रॉपर्टी कंपैरिजन मैट्रिक्स यूज़र को एक साथ 4 घरों की तुलना करने की सुविधा देता है। यह अपने आप ₹/sq.ft निकालता है और स्विमिंग पूल, जिम, ऑटोमेशन जैसी सुविधाओं की चेकलिस्ट दिखाता 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Walk through the Property Details Modal enhancements: explain the formula P * r * (1+r)^n / ((1+r)^n - 1) running dynamically in updateModalEMI, and explain the print CSS rules for PDF brochure generation.</a:t>
            </a:r>
          </a:p>
          <a:p/>
          <a:p>
            <a:r>
              <a:t>HINDI EXPLANATION (टीचर को समझाने के लिए):</a:t>
            </a:r>
          </a:p>
          <a:p>
            <a:r>
              <a:t>प्रॉपर्टी मोडल के अंदर ही इंस्टेंट EMI कैलकुलेटर जोड़ा गया है जो 20% डाउन पेमेंट और 80% लोन के आधार पर लाइव EMI दिखाता है। साथ ही व्हाट्सएप शेयरिंग और प्रिंटेबल ब्रोशर जनरेटर भी उपलब्ध 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Explain how sell.html and server.js handle file uploads via Multer. Highlight how numeric prices are automatically converted into Lakhs and Crores, and how newly added properties immediately appear in the marketplace.</a:t>
            </a:r>
          </a:p>
          <a:p/>
          <a:p>
            <a:r>
              <a:t>HINDI EXPLANATION (टीचर को समझाने के लिए):</a:t>
            </a:r>
          </a:p>
          <a:p>
            <a:r>
              <a:t>Sell पेज पर 5-स्टेप विज़ार्ड है जिससे कोई भी ओनर या एजेंट अपनी प्रॉपर्टी लिस्ट कर सकता है। Multer से फोटो अपलोड होती है और बैकएंड अपने आप Lakhs/Crores में फ़ॉर्मेट करके SQLite में स्टोर करता 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Showcase design.html and house-plans.html. Highlight that unlike typical real estate portals, XenProperty supports the complete journey from discovering a plot to designing the dream villa.</a:t>
            </a:r>
          </a:p>
          <a:p/>
          <a:p>
            <a:r>
              <a:t>HINDI EXPLANATION (टीचर को समझाने के लिए):</a:t>
            </a:r>
          </a:p>
          <a:p>
            <a:r>
              <a:t>आर्किटेक्चर और डिज़ाइन स्टूडियो यूज़र को घर बनाने से पहले 2D फ्लोर प्लान, 3D एलिवेशन और वास्तु कंसल्टेशन की सुविधा देता है। इसका कॉस्ट एस्टीमेटर एरिया के हिसाब से तुरंत बजट निकालता 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Explain the loan calculator in calculator.js. Demonstrate how the mathematical formula runs on every slider movement, and explain the automated underwriting rule in server.js that issues instant pre-approval letters.</a:t>
            </a:r>
          </a:p>
          <a:p/>
          <a:p>
            <a:r>
              <a:t>HINDI EXPLANATION (टीचर को समझाने के लिए):</a:t>
            </a:r>
          </a:p>
          <a:p>
            <a:r>
              <a:t>होम लोन पेज पर 3 रियल-टाइम स्लाइडर्स हैं। जब यूज़र एप्लीकेशन सबमिट करता है तो बैकएंड उसकी इनकम को 60 गुना से जांचकर तुरंत 'Pre-Approval Letter' जारी करता 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Demonstrate admin.html. Point out that we added the Design Requests table and real-time status update dropdowns using our newly added PATCH endpoints, along with the live table search filter.</a:t>
            </a:r>
          </a:p>
          <a:p/>
          <a:p>
            <a:r>
              <a:t>HINDI EXPLANATION (टीचर को समझाने के लिए):</a:t>
            </a:r>
          </a:p>
          <a:p>
            <a:r>
              <a:t>एडमिन पोर्टल सिस्टम का कंट्रोल सेंटर है। यहाँ 5 KPI कार्ड्स हैं, प्रॉपर्टी मैनेजमेंट है और अब इन्क्वायरी, लोन व डिज़ाइन रिक्वेस्ट्स का स्टेटस सीधे ड्रॉपडाउन से 'Contacted' या 'Approved' किया जा सकता 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Emphasize the security and quality aspects: Bcrypt password hashing, parameterized queries to prevent SQL injection, and XSS escaping. Teachers and examiners frequently ask about security in project evaluations.</a:t>
            </a:r>
          </a:p>
          <a:p/>
          <a:p>
            <a:r>
              <a:t>HINDI EXPLANATION (टीचर को समझाने के लिए):</a:t>
            </a:r>
          </a:p>
          <a:p>
            <a:r>
              <a:t>टीचर अक्सर सिक्योरिटी के बारे में पूछते हैं: बताएं कि हमने Bcrypt 10 rounds से पासवर्ड हैश किए हैं, SQL इंजेक्शन रोकने के लिए Parameterized Queries का उपयोग किया है और XSS से बचने के लिए HTML एस्केपिंग लगाई 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Tell the evaluators that the project includes an automated test script (`node test.js`) that tests all REST endpoints and verifies complete system health programmatically.</a:t>
            </a:r>
          </a:p>
          <a:p/>
          <a:p>
            <a:r>
              <a:t>HINDI EXPLANATION (टीचर को समझाने के लिए):</a:t>
            </a:r>
          </a:p>
          <a:p>
            <a:r>
              <a:t>प्रोजेक्ट में ऑटोमेटेड टेस्टिंग सूट (`node test.js`) शामिल है जो सर्वर के सभी 12 एंडपॉइंट्स (HTTP 200, AI Chat, Auth, Loans, PATCH स्टेटस) को ऑटोमेटिक टेस्ट करता है और 100% पास रिजल्ट देता 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During your live demo, follow this sequence exactly. First show the user experience (search, AI chat, favorites, comparison, EMI slider), then log in as Admin to show operational control and status updates.</a:t>
            </a:r>
          </a:p>
          <a:p/>
          <a:p>
            <a:r>
              <a:t>HINDI EXPLANATION (टीचर को समझाने के लिए):</a:t>
            </a:r>
          </a:p>
          <a:p>
            <a:r>
              <a:t>लाइव डेमो के दौरान इस क्रम का पालन करें: पहले होमपेज और AI चैट दिखाएं, फिर प्रॉपर्टी कंपैरिजन और EMI स्लाइडर दिखाएं, और अंत में admin@xenproperty.com से लॉगिन करके एडमिन कंट्रोल सेंटर दिखाएं।</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When teachers ask 'What are the future possibilities of your project?', explain these points: VR walkthroughs, GIS Mapbox integration for nearby metro/schools, and Razorpay token payments.</a:t>
            </a:r>
          </a:p>
          <a:p/>
          <a:p>
            <a:r>
              <a:t>HINDI EXPLANATION (टीचर को समझाने के लिए):</a:t>
            </a:r>
          </a:p>
          <a:p>
            <a:r>
              <a:t>जब टीचर पूछें कि 'इस प्रोजेक्ट को आगे कैसे बढ़ाया जा सकता है?', तो बताएं कि इसमें VR वर्चुअल टूर, मैपबॉक्स मैप्स और रेज़रपे पेमेंट गेटवे जोड़कर इसे पूरी तरह कमर्शियल प्रोडक्ट बनाया जा सकता 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[STUDENT PRESENTATION SCRIPT / HOW TO PRESENT TO TEACHER] ---</a:t>
            </a:r>
          </a:p>
          <a:p/>
          <a:p>
            <a:r>
              <a:t>ENGLISH SCRIPT:</a:t>
            </a:r>
          </a:p>
          <a:p>
            <a:r>
              <a:t>Thank the professors and audience. Conclude by summarizing your key technical takeaways and invite them to ask questions or test the live application.</a:t>
            </a:r>
          </a:p>
          <a:p/>
          <a:p>
            <a:r>
              <a:t>HINDI EXPLANATION (टीचर को समझाने के लिए):</a:t>
            </a:r>
          </a:p>
          <a:p>
            <a:r>
              <a:t>टीचर्स और साथियों का धन्यवाद करें। बताएं कि इस प्रोजेक्ट से फुल-स्टैक डेवलपमेंट, डेटाबेस मॉडलिंग, ऑथेंटिकेशन और रियल-वर्ल्ड प्रॉब्लम सॉल्विंग का गहरा अनुभव मिला। अब टीचर्स से प्रश्नों के लिए आमंत्रित करें।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2743200"/>
          </a:xfrm>
          <a:prstGeom prst="rect">
            <a:avLst/>
          </a:prstGeom>
          <a:noFill/>
        </p:spPr>
        <p:txBody>
          <a:bodyPr wrap="square">
            <a:spAutoFit/>
          </a:bodyPr>
          <a:lstStyle/>
          <a:p>
            <a:pPr>
              <a:spcAft>
                <a:spcPts val="1200"/>
              </a:spcAft>
              <a:defRPr sz="1200" b="1">
                <a:solidFill>
                  <a:srgbClr val="10B981"/>
                </a:solidFill>
              </a:defRPr>
            </a:pPr>
            <a:r>
              <a:t>COLLEGE MAJOR PROJECT PRESENTATION • FULL-STACK WEB ENGINEERING</a:t>
            </a:r>
          </a:p>
          <a:p>
            <a:pPr>
              <a:defRPr sz="4200" b="1">
                <a:solidFill>
                  <a:srgbClr val="FFFFFF"/>
                </a:solidFill>
              </a:defRPr>
            </a:pPr>
            <a:r>
              <a:t>XenProperty Ecosystem</a:t>
            </a:r>
          </a:p>
          <a:p>
            <a:pPr>
              <a:spcAft>
                <a:spcPts val="2000"/>
              </a:spcAft>
              <a:defRPr sz="2000">
                <a:solidFill>
                  <a:srgbClr val="D1FAE5"/>
                </a:solidFill>
              </a:defRPr>
            </a:pPr>
            <a:r>
              <a:t>AI-Powered Real Estate, Architecture Studio &amp; Mortgage Platform</a:t>
            </a:r>
          </a:p>
          <a:p>
            <a:pPr>
              <a:defRPr sz="1400" i="1">
                <a:solidFill>
                  <a:srgbClr val="F59E0B"/>
                </a:solidFill>
              </a:defRPr>
            </a:pPr>
            <a:r>
              <a:t>"Smart Homes. Better Future. Where Property Meets Possibility."</a:t>
            </a:r>
          </a:p>
        </p:txBody>
      </p:sp>
      <p:sp>
        <p:nvSpPr>
          <p:cNvPr id="4" name="Rounded Rectangle 3"/>
          <p:cNvSpPr/>
          <p:nvPr/>
        </p:nvSpPr>
        <p:spPr>
          <a:xfrm>
            <a:off x="1097280" y="4572000"/>
            <a:ext cx="9966960" cy="1463040"/>
          </a:xfrm>
          <a:prstGeom prst="roundRect">
            <a:avLst/>
          </a:prstGeom>
          <a:solidFill>
            <a:srgbClr val="1118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4709160"/>
            <a:ext cx="9418320" cy="1188720"/>
          </a:xfrm>
          <a:prstGeom prst="rect">
            <a:avLst/>
          </a:prstGeom>
          <a:noFill/>
        </p:spPr>
        <p:txBody>
          <a:bodyPr wrap="square">
            <a:spAutoFit/>
          </a:bodyPr>
          <a:lstStyle/>
          <a:p>
            <a:pPr>
              <a:spcAft>
                <a:spcPts val="600"/>
              </a:spcAft>
              <a:defRPr sz="1200" b="1">
                <a:solidFill>
                  <a:srgbClr val="FFFFFF"/>
                </a:solidFill>
              </a:defRPr>
            </a:pPr>
            <a:r>
              <a:t>Technology Stack: Node.js • Express.js • SQLite • HTML5 / CSS3 (Design System) • ES6+ Vanilla JS • JWT Auth</a:t>
            </a:r>
          </a:p>
          <a:p>
            <a:pPr>
              <a:defRPr sz="1100">
                <a:solidFill>
                  <a:srgbClr val="6B7280"/>
                </a:solidFill>
              </a:defRPr>
            </a:pPr>
            <a:r>
              <a:t>Project Scope: Verified Buy/Rent Marketplace, AI NLP Matchmaker, Architecture Floor Plans, EMI Calculator &amp; Admin Portal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EXECUTIVE OVERVIEW</a:t>
            </a:r>
          </a:p>
          <a:p>
            <a:pPr>
              <a:defRPr sz="2200" b="1">
                <a:solidFill>
                  <a:srgbClr val="FFFFFF"/>
                </a:solidFill>
              </a:defRPr>
            </a:pPr>
            <a:r>
              <a:t>Problem Statement &amp; Project Motivation</a:t>
            </a:r>
          </a:p>
          <a:p>
            <a:pPr>
              <a:defRPr sz="1100">
                <a:solidFill>
                  <a:srgbClr val="D1FAE5"/>
                </a:solidFill>
              </a:defRPr>
            </a:pPr>
            <a:r>
              <a:t>Why the Indian Real Estate Market needed an integrated ecosystem</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Current Market Problems (मौजूदा समस्याएँ)</a:t>
            </a:r>
          </a:p>
          <a:p>
            <a:pPr>
              <a:spcAft>
                <a:spcPts val="600"/>
              </a:spcAft>
              <a:defRPr sz="950" b="1">
                <a:solidFill>
                  <a:srgbClr val="F59E0B"/>
                </a:solidFill>
              </a:defRPr>
            </a:pPr>
            <a:r>
              <a:t>CHALLENGES IN TRADITIONAL REAL ESTATE</a:t>
            </a:r>
          </a:p>
          <a:p>
            <a:pPr>
              <a:spcAft>
                <a:spcPts val="400"/>
              </a:spcAft>
              <a:defRPr sz="1150">
                <a:solidFill>
                  <a:srgbClr val="111827"/>
                </a:solidFill>
              </a:defRPr>
            </a:pPr>
            <a:r>
              <a:t>• Fragmented User Experience: Buyers must visit multiple websites — one for listings (MagicBricks/99acres), another for architects, and bank websites for loan approvals.</a:t>
            </a:r>
          </a:p>
          <a:p>
            <a:pPr>
              <a:spcAft>
                <a:spcPts val="400"/>
              </a:spcAft>
              <a:defRPr sz="1150">
                <a:solidFill>
                  <a:srgbClr val="111827"/>
                </a:solidFill>
              </a:defRPr>
            </a:pPr>
            <a:r>
              <a:t>• Unverified Fake Listings: Over 40% of real estate classifieds in India suffer from outdated photos, expired prices, and unverified broker claims.</a:t>
            </a:r>
          </a:p>
          <a:p>
            <a:pPr>
              <a:spcAft>
                <a:spcPts val="400"/>
              </a:spcAft>
              <a:defRPr sz="1150">
                <a:solidFill>
                  <a:srgbClr val="111827"/>
                </a:solidFill>
              </a:defRPr>
            </a:pPr>
            <a:r>
              <a:t>• Lack of Architectural Visualization: Home buyers cannot visualize floor plans, 3D elevations, or Vastu compliance prior to investing.</a:t>
            </a:r>
          </a:p>
          <a:p>
            <a:pPr>
              <a:spcAft>
                <a:spcPts val="400"/>
              </a:spcAft>
              <a:defRPr sz="1150">
                <a:solidFill>
                  <a:srgbClr val="111827"/>
                </a:solidFill>
              </a:defRPr>
            </a:pPr>
            <a:r>
              <a:t>• Disconnected Financing: Loan seekers have no instant calculation linking a specific property's price directly to customized bank eligibility.</a:t>
            </a:r>
          </a:p>
          <a:p>
            <a:pPr>
              <a:spcAft>
                <a:spcPts val="400"/>
              </a:spcAft>
              <a:defRPr sz="1150">
                <a:solidFill>
                  <a:srgbClr val="111827"/>
                </a:solidFill>
              </a:defRPr>
            </a:pPr>
            <a:r>
              <a:t>• Slow, Manual Lead Management: Property inquiries take days to process without centralized administrator lead pipelines.</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The XenProperty Solution (हमारा समाधान)</a:t>
            </a:r>
          </a:p>
          <a:p>
            <a:pPr>
              <a:spcAft>
                <a:spcPts val="600"/>
              </a:spcAft>
              <a:defRPr sz="950" b="1">
                <a:solidFill>
                  <a:srgbClr val="F59E0B"/>
                </a:solidFill>
              </a:defRPr>
            </a:pPr>
            <a:r>
              <a:t>XENPROPERTY VALUE PROPOSITION</a:t>
            </a:r>
          </a:p>
          <a:p>
            <a:pPr>
              <a:spcAft>
                <a:spcPts val="400"/>
              </a:spcAft>
              <a:defRPr sz="1150">
                <a:solidFill>
                  <a:srgbClr val="111827"/>
                </a:solidFill>
              </a:defRPr>
            </a:pPr>
            <a:r>
              <a:t>• Unified All-in-One Digital Hub: Combines marketplace, AI assistant, 2D/3D floor planning, and home financing under one roof.</a:t>
            </a:r>
          </a:p>
          <a:p>
            <a:pPr>
              <a:spcAft>
                <a:spcPts val="400"/>
              </a:spcAft>
              <a:defRPr sz="1150">
                <a:solidFill>
                  <a:srgbClr val="111827"/>
                </a:solidFill>
              </a:defRPr>
            </a:pPr>
            <a:r>
              <a:t>• 100% RERA &amp; Documentation Verified: Every listing features verification badges, carpet area specs, and audited location scores.</a:t>
            </a:r>
          </a:p>
          <a:p>
            <a:pPr>
              <a:spcAft>
                <a:spcPts val="400"/>
              </a:spcAft>
              <a:defRPr sz="1150">
                <a:solidFill>
                  <a:srgbClr val="111827"/>
                </a:solidFill>
              </a:defRPr>
            </a:pPr>
            <a:r>
              <a:t>• Natural Language AI Matchmaker: Conversational AI parses city, BHK, budget, and lifestyle needs to return intelligent matches.</a:t>
            </a:r>
          </a:p>
          <a:p>
            <a:pPr>
              <a:spcAft>
                <a:spcPts val="400"/>
              </a:spcAft>
              <a:defRPr sz="1150">
                <a:solidFill>
                  <a:srgbClr val="111827"/>
                </a:solidFill>
              </a:defRPr>
            </a:pPr>
            <a:r>
              <a:t>• Embedded Mortgage Eligibility: Instant EMI calculator inside every property detail modal with direct digital pre-approval letters.</a:t>
            </a:r>
          </a:p>
          <a:p>
            <a:pPr>
              <a:spcAft>
                <a:spcPts val="400"/>
              </a:spcAft>
              <a:defRPr sz="1150">
                <a:solidFill>
                  <a:srgbClr val="111827"/>
                </a:solidFill>
              </a:defRPr>
            </a:pPr>
            <a:r>
              <a:t>• End-to-End Operational Control: Live admin portal with KPI metrics, status updates (Pending, Contacted, Approved), and search.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SYSTEM ENGINEERING</a:t>
            </a:r>
          </a:p>
          <a:p>
            <a:pPr>
              <a:defRPr sz="2200" b="1">
                <a:solidFill>
                  <a:srgbClr val="FFFFFF"/>
                </a:solidFill>
              </a:defRPr>
            </a:pPr>
            <a:r>
              <a:t>3-Tier System Architecture &amp; Technology Stack</a:t>
            </a:r>
          </a:p>
          <a:p>
            <a:pPr>
              <a:defRPr sz="1100">
                <a:solidFill>
                  <a:srgbClr val="D1FAE5"/>
                </a:solidFill>
              </a:defRPr>
            </a:pPr>
            <a:r>
              <a:t>Architected for high reliability, zero configuration, and sub-300ms response times</a:t>
            </a:r>
          </a:p>
        </p:txBody>
      </p:sp>
      <p:sp>
        <p:nvSpPr>
          <p:cNvPr id="4" name="Rounded Rectangle 3"/>
          <p:cNvSpPr/>
          <p:nvPr/>
        </p:nvSpPr>
        <p:spPr>
          <a:xfrm>
            <a:off x="731520" y="1371600"/>
            <a:ext cx="32918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2834640" cy="4480560"/>
          </a:xfrm>
          <a:prstGeom prst="rect">
            <a:avLst/>
          </a:prstGeom>
          <a:noFill/>
        </p:spPr>
        <p:txBody>
          <a:bodyPr wrap="square" tIns="0" bIns="0" lIns="0" rIns="0">
            <a:spAutoFit/>
          </a:bodyPr>
          <a:lstStyle/>
          <a:p>
            <a:pPr>
              <a:defRPr sz="1500" b="1">
                <a:solidFill>
                  <a:srgbClr val="0F5B46"/>
                </a:solidFill>
              </a:defRPr>
            </a:pPr>
            <a:r>
              <a:t>1. Client Presentation Tier</a:t>
            </a:r>
          </a:p>
          <a:p>
            <a:pPr>
              <a:spcAft>
                <a:spcPts val="600"/>
              </a:spcAft>
              <a:defRPr sz="950" b="1">
                <a:solidFill>
                  <a:srgbClr val="F59E0B"/>
                </a:solidFill>
              </a:defRPr>
            </a:pPr>
            <a:r>
              <a:t>FRONTEND TIER</a:t>
            </a:r>
          </a:p>
          <a:p>
            <a:pPr>
              <a:spcAft>
                <a:spcPts val="400"/>
              </a:spcAft>
              <a:defRPr sz="1150">
                <a:solidFill>
                  <a:srgbClr val="111827"/>
                </a:solidFill>
              </a:defRPr>
            </a:pPr>
            <a:r>
              <a:t>• Semantic HTML5: Clean, accessible markup structure across 12 distinct pages.</a:t>
            </a:r>
          </a:p>
          <a:p>
            <a:pPr>
              <a:spcAft>
                <a:spcPts val="400"/>
              </a:spcAft>
              <a:defRPr sz="1150">
                <a:solidFill>
                  <a:srgbClr val="111827"/>
                </a:solidFill>
              </a:defRPr>
            </a:pPr>
            <a:r>
              <a:t>• Modular CSS3: Custom design system using CSS Variables, Emerald aesthetic (#0F5B46), glassmorphic elements, and flex/grid layouts.</a:t>
            </a:r>
          </a:p>
          <a:p>
            <a:pPr>
              <a:spcAft>
                <a:spcPts val="400"/>
              </a:spcAft>
              <a:defRPr sz="1150">
                <a:solidFill>
                  <a:srgbClr val="111827"/>
                </a:solidFill>
              </a:defRPr>
            </a:pPr>
            <a:r>
              <a:t>• Vanilla ES6+ JavaScript: Pure native JavaScript with zero external front-end framework overhead, ensuring load speeds under 300ms.</a:t>
            </a:r>
          </a:p>
          <a:p>
            <a:pPr>
              <a:spcAft>
                <a:spcPts val="400"/>
              </a:spcAft>
              <a:defRPr sz="1150">
                <a:solidFill>
                  <a:srgbClr val="111827"/>
                </a:solidFill>
              </a:defRPr>
            </a:pPr>
            <a:r>
              <a:t>• Responsive Breakpoints: Optimized for Mobile (320px+), Tablet (768px+), and Desktop (1024px+).</a:t>
            </a:r>
          </a:p>
        </p:txBody>
      </p:sp>
      <p:sp>
        <p:nvSpPr>
          <p:cNvPr id="6" name="Rounded Rectangle 5"/>
          <p:cNvSpPr/>
          <p:nvPr/>
        </p:nvSpPr>
        <p:spPr>
          <a:xfrm>
            <a:off x="4389120" y="1371600"/>
            <a:ext cx="32918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554480"/>
            <a:ext cx="2834640" cy="4480560"/>
          </a:xfrm>
          <a:prstGeom prst="rect">
            <a:avLst/>
          </a:prstGeom>
          <a:noFill/>
        </p:spPr>
        <p:txBody>
          <a:bodyPr wrap="square" tIns="0" bIns="0" lIns="0" rIns="0">
            <a:spAutoFit/>
          </a:bodyPr>
          <a:lstStyle/>
          <a:p>
            <a:pPr>
              <a:defRPr sz="1500" b="1">
                <a:solidFill>
                  <a:srgbClr val="0F5B46"/>
                </a:solidFill>
              </a:defRPr>
            </a:pPr>
            <a:r>
              <a:t>2. Application Server Tier</a:t>
            </a:r>
          </a:p>
          <a:p>
            <a:pPr>
              <a:spcAft>
                <a:spcPts val="600"/>
              </a:spcAft>
              <a:defRPr sz="950" b="1">
                <a:solidFill>
                  <a:srgbClr val="F59E0B"/>
                </a:solidFill>
              </a:defRPr>
            </a:pPr>
            <a:r>
              <a:t>BACKEND API TIER</a:t>
            </a:r>
          </a:p>
          <a:p>
            <a:pPr>
              <a:spcAft>
                <a:spcPts val="400"/>
              </a:spcAft>
              <a:defRPr sz="1150">
                <a:solidFill>
                  <a:srgbClr val="111827"/>
                </a:solidFill>
              </a:defRPr>
            </a:pPr>
            <a:r>
              <a:t>• Node.js Runtime: High-concurrency event-driven architecture.</a:t>
            </a:r>
          </a:p>
          <a:p>
            <a:pPr>
              <a:spcAft>
                <a:spcPts val="400"/>
              </a:spcAft>
              <a:defRPr sz="1150">
                <a:solidFill>
                  <a:srgbClr val="111827"/>
                </a:solidFill>
              </a:defRPr>
            </a:pPr>
            <a:r>
              <a:t>• Express.js 5.x Framework: RESTful API routing, middleware chaining, and static serving.</a:t>
            </a:r>
          </a:p>
          <a:p>
            <a:pPr>
              <a:spcAft>
                <a:spcPts val="400"/>
              </a:spcAft>
              <a:defRPr sz="1150">
                <a:solidFill>
                  <a:srgbClr val="111827"/>
                </a:solidFill>
              </a:defRPr>
            </a:pPr>
            <a:r>
              <a:t>• Multer Multipart Engine: Secure property image upload with disk storage validation.</a:t>
            </a:r>
          </a:p>
          <a:p>
            <a:pPr>
              <a:spcAft>
                <a:spcPts val="400"/>
              </a:spcAft>
              <a:defRPr sz="1150">
                <a:solidFill>
                  <a:srgbClr val="111827"/>
                </a:solidFill>
              </a:defRPr>
            </a:pPr>
            <a:r>
              <a:t>• JSON Web Tokens (JWT): Secure stateless user authentication &amp; session management.</a:t>
            </a:r>
          </a:p>
          <a:p>
            <a:pPr>
              <a:spcAft>
                <a:spcPts val="400"/>
              </a:spcAft>
              <a:defRPr sz="1150">
                <a:solidFill>
                  <a:srgbClr val="111827"/>
                </a:solidFill>
              </a:defRPr>
            </a:pPr>
            <a:r>
              <a:t>• BcryptJS: Industry-standard 10-round salted password hashing.</a:t>
            </a:r>
          </a:p>
          <a:p>
            <a:pPr>
              <a:spcAft>
                <a:spcPts val="400"/>
              </a:spcAft>
              <a:defRPr sz="1150">
                <a:solidFill>
                  <a:srgbClr val="111827"/>
                </a:solidFill>
              </a:defRPr>
            </a:pPr>
            <a:r>
              <a:t>• AI NLP Matching Service: Rule-based &amp; regex semantic entity extraction engine.</a:t>
            </a:r>
          </a:p>
        </p:txBody>
      </p:sp>
      <p:sp>
        <p:nvSpPr>
          <p:cNvPr id="8" name="Rounded Rectangle 7"/>
          <p:cNvSpPr/>
          <p:nvPr/>
        </p:nvSpPr>
        <p:spPr>
          <a:xfrm>
            <a:off x="8046720" y="1371600"/>
            <a:ext cx="32918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1554480"/>
            <a:ext cx="2834640" cy="4480560"/>
          </a:xfrm>
          <a:prstGeom prst="rect">
            <a:avLst/>
          </a:prstGeom>
          <a:noFill/>
        </p:spPr>
        <p:txBody>
          <a:bodyPr wrap="square" tIns="0" bIns="0" lIns="0" rIns="0">
            <a:spAutoFit/>
          </a:bodyPr>
          <a:lstStyle/>
          <a:p>
            <a:pPr>
              <a:defRPr sz="1500" b="1">
                <a:solidFill>
                  <a:srgbClr val="0F5B46"/>
                </a:solidFill>
              </a:defRPr>
            </a:pPr>
            <a:r>
              <a:t>3. Data Persistence Tier</a:t>
            </a:r>
          </a:p>
          <a:p>
            <a:pPr>
              <a:spcAft>
                <a:spcPts val="600"/>
              </a:spcAft>
              <a:defRPr sz="950" b="1">
                <a:solidFill>
                  <a:srgbClr val="F59E0B"/>
                </a:solidFill>
              </a:defRPr>
            </a:pPr>
            <a:r>
              <a:t>DATABASE TIER</a:t>
            </a:r>
          </a:p>
          <a:p>
            <a:pPr>
              <a:spcAft>
                <a:spcPts val="400"/>
              </a:spcAft>
              <a:defRPr sz="1150">
                <a:solidFill>
                  <a:srgbClr val="111827"/>
                </a:solidFill>
              </a:defRPr>
            </a:pPr>
            <a:r>
              <a:t>• SQLite 3 Database: Embedded zero-configuration ACID relational database engine (`xenproperty.sqlite`).</a:t>
            </a:r>
          </a:p>
          <a:p>
            <a:pPr>
              <a:spcAft>
                <a:spcPts val="400"/>
              </a:spcAft>
              <a:defRPr sz="1150">
                <a:solidFill>
                  <a:srgbClr val="111827"/>
                </a:solidFill>
              </a:defRPr>
            </a:pPr>
            <a:r>
              <a:t>• Parameterized Queries: Complete prevention of SQL Injection attacks across all CRUD queries.</a:t>
            </a:r>
          </a:p>
          <a:p>
            <a:pPr>
              <a:spcAft>
                <a:spcPts val="400"/>
              </a:spcAft>
              <a:defRPr sz="1150">
                <a:solidFill>
                  <a:srgbClr val="111827"/>
                </a:solidFill>
              </a:defRPr>
            </a:pPr>
            <a:r>
              <a:t>• Automatic Seeding: Pre-loaded with luxury verified properties, demo user/admin accounts, and inquiries.</a:t>
            </a:r>
          </a:p>
          <a:p>
            <a:pPr>
              <a:spcAft>
                <a:spcPts val="400"/>
              </a:spcAft>
              <a:defRPr sz="1150">
                <a:solidFill>
                  <a:srgbClr val="111827"/>
                </a:solidFill>
              </a:defRPr>
            </a:pPr>
            <a:r>
              <a:t>• Portability: Runs instantly on any operating system without external MySQL/PostgreSQL installation.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DATA MODELING</a:t>
            </a:r>
          </a:p>
          <a:p>
            <a:pPr>
              <a:defRPr sz="2200" b="1">
                <a:solidFill>
                  <a:srgbClr val="FFFFFF"/>
                </a:solidFill>
              </a:defRPr>
            </a:pPr>
            <a:r>
              <a:t>Database Schema &amp; Entity Relationship Overview</a:t>
            </a:r>
          </a:p>
          <a:p>
            <a:pPr>
              <a:defRPr sz="1100">
                <a:solidFill>
                  <a:srgbClr val="D1FAE5"/>
                </a:solidFill>
              </a:defRPr>
            </a:pPr>
            <a:r>
              <a:t>5 Normalized relational tables governing platform operations</a:t>
            </a:r>
          </a:p>
        </p:txBody>
      </p:sp>
      <p:sp>
        <p:nvSpPr>
          <p:cNvPr id="4" name="Rounded Rectangle 3"/>
          <p:cNvSpPr/>
          <p:nvPr/>
        </p:nvSpPr>
        <p:spPr>
          <a:xfrm>
            <a:off x="731520" y="1371600"/>
            <a:ext cx="5120640" cy="228600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1920240"/>
          </a:xfrm>
          <a:prstGeom prst="rect">
            <a:avLst/>
          </a:prstGeom>
          <a:noFill/>
        </p:spPr>
        <p:txBody>
          <a:bodyPr wrap="square" tIns="0" bIns="0" lIns="0" rIns="0">
            <a:spAutoFit/>
          </a:bodyPr>
          <a:lstStyle/>
          <a:p>
            <a:pPr>
              <a:defRPr sz="1500" b="1">
                <a:solidFill>
                  <a:srgbClr val="0F5B46"/>
                </a:solidFill>
              </a:defRPr>
            </a:pPr>
            <a:r>
              <a:t>Table: users (प्रयोक्ता तालिका)</a:t>
            </a:r>
          </a:p>
          <a:p>
            <a:pPr>
              <a:spcAft>
                <a:spcPts val="600"/>
              </a:spcAft>
              <a:defRPr sz="950" b="1">
                <a:solidFill>
                  <a:srgbClr val="F59E0B"/>
                </a:solidFill>
              </a:defRPr>
            </a:pPr>
            <a:r>
              <a:t>AUTHENTICATION &amp; ROLES</a:t>
            </a:r>
          </a:p>
          <a:p>
            <a:pPr>
              <a:spcAft>
                <a:spcPts val="400"/>
              </a:spcAft>
              <a:defRPr sz="1150">
                <a:solidFill>
                  <a:srgbClr val="111827"/>
                </a:solidFill>
              </a:defRPr>
            </a:pPr>
            <a:r>
              <a:t>• id: INTEGER PRIMARY KEY AUTOINCREMENT</a:t>
            </a:r>
          </a:p>
          <a:p>
            <a:pPr>
              <a:spcAft>
                <a:spcPts val="400"/>
              </a:spcAft>
              <a:defRPr sz="1150">
                <a:solidFill>
                  <a:srgbClr val="111827"/>
                </a:solidFill>
              </a:defRPr>
            </a:pPr>
            <a:r>
              <a:t>• full_name: TEXT NOT NULL • email: TEXT UNIQUE NOT NULL</a:t>
            </a:r>
          </a:p>
          <a:p>
            <a:pPr>
              <a:spcAft>
                <a:spcPts val="400"/>
              </a:spcAft>
              <a:defRPr sz="1150">
                <a:solidFill>
                  <a:srgbClr val="111827"/>
                </a:solidFill>
              </a:defRPr>
            </a:pPr>
            <a:r>
              <a:t>• password_hash: TEXT NOT NULL (Hashed with Bcrypt)</a:t>
            </a:r>
          </a:p>
          <a:p>
            <a:pPr>
              <a:spcAft>
                <a:spcPts val="400"/>
              </a:spcAft>
              <a:defRPr sz="1150">
                <a:solidFill>
                  <a:srgbClr val="111827"/>
                </a:solidFill>
              </a:defRPr>
            </a:pPr>
            <a:r>
              <a:t>• phone: TEXT • role: TEXT ('user' | 'admin') • created_at: DATETIME</a:t>
            </a:r>
          </a:p>
        </p:txBody>
      </p:sp>
      <p:sp>
        <p:nvSpPr>
          <p:cNvPr id="6" name="Rounded Rectangle 5"/>
          <p:cNvSpPr/>
          <p:nvPr/>
        </p:nvSpPr>
        <p:spPr>
          <a:xfrm>
            <a:off x="6217920" y="1371600"/>
            <a:ext cx="5120640" cy="228600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1920240"/>
          </a:xfrm>
          <a:prstGeom prst="rect">
            <a:avLst/>
          </a:prstGeom>
          <a:noFill/>
        </p:spPr>
        <p:txBody>
          <a:bodyPr wrap="square" tIns="0" bIns="0" lIns="0" rIns="0">
            <a:spAutoFit/>
          </a:bodyPr>
          <a:lstStyle/>
          <a:p>
            <a:pPr>
              <a:defRPr sz="1500" b="1">
                <a:solidFill>
                  <a:srgbClr val="0F5B46"/>
                </a:solidFill>
              </a:defRPr>
            </a:pPr>
            <a:r>
              <a:t>Table: properties (प्रॉपर्टी तालिका)</a:t>
            </a:r>
          </a:p>
          <a:p>
            <a:pPr>
              <a:spcAft>
                <a:spcPts val="600"/>
              </a:spcAft>
              <a:defRPr sz="950" b="1">
                <a:solidFill>
                  <a:srgbClr val="F59E0B"/>
                </a:solidFill>
              </a:defRPr>
            </a:pPr>
            <a:r>
              <a:t>PROPERTY LISTINGS CATALOG</a:t>
            </a:r>
          </a:p>
          <a:p>
            <a:pPr>
              <a:spcAft>
                <a:spcPts val="400"/>
              </a:spcAft>
              <a:defRPr sz="1150">
                <a:solidFill>
                  <a:srgbClr val="111827"/>
                </a:solidFill>
              </a:defRPr>
            </a:pPr>
            <a:r>
              <a:t>• id, user_id, title, listing_type ('buy'|'rent'|'commercial'), property_type</a:t>
            </a:r>
          </a:p>
          <a:p>
            <a:pPr>
              <a:spcAft>
                <a:spcPts val="400"/>
              </a:spcAft>
              <a:defRPr sz="1150">
                <a:solidFill>
                  <a:srgbClr val="111827"/>
                </a:solidFill>
              </a:defRPr>
            </a:pPr>
            <a:r>
              <a:t>• price (INTEGER), price_display, city, state, address, beds, baths, area_sqft</a:t>
            </a:r>
          </a:p>
          <a:p>
            <a:pPr>
              <a:spcAft>
                <a:spcPts val="400"/>
              </a:spcAft>
              <a:defRPr sz="1150">
                <a:solidFill>
                  <a:srgbClr val="111827"/>
                </a:solidFill>
              </a:defRPr>
            </a:pPr>
            <a:r>
              <a:t>• image_url, additional_images (JSON array), amenities (JSON array)</a:t>
            </a:r>
          </a:p>
          <a:p>
            <a:pPr>
              <a:spcAft>
                <a:spcPts val="400"/>
              </a:spcAft>
              <a:defRPr sz="1150">
                <a:solidFill>
                  <a:srgbClr val="111827"/>
                </a:solidFill>
              </a:defRPr>
            </a:pPr>
            <a:r>
              <a:t>• ai_match_pct, location_score, lifestyle_score, is_verified, is_featured</a:t>
            </a:r>
          </a:p>
        </p:txBody>
      </p:sp>
      <p:sp>
        <p:nvSpPr>
          <p:cNvPr id="8" name="Rounded Rectangle 7"/>
          <p:cNvSpPr/>
          <p:nvPr/>
        </p:nvSpPr>
        <p:spPr>
          <a:xfrm>
            <a:off x="731520" y="3931920"/>
            <a:ext cx="3291840" cy="237744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114800"/>
            <a:ext cx="2834640" cy="2011680"/>
          </a:xfrm>
          <a:prstGeom prst="rect">
            <a:avLst/>
          </a:prstGeom>
          <a:noFill/>
        </p:spPr>
        <p:txBody>
          <a:bodyPr wrap="square" tIns="0" bIns="0" lIns="0" rIns="0">
            <a:spAutoFit/>
          </a:bodyPr>
          <a:lstStyle/>
          <a:p>
            <a:pPr>
              <a:defRPr sz="1500" b="1">
                <a:solidFill>
                  <a:srgbClr val="0F5B46"/>
                </a:solidFill>
              </a:defRPr>
            </a:pPr>
            <a:r>
              <a:t>Table: inquiries</a:t>
            </a:r>
          </a:p>
          <a:p>
            <a:pPr>
              <a:spcAft>
                <a:spcPts val="600"/>
              </a:spcAft>
              <a:defRPr sz="950" b="1">
                <a:solidFill>
                  <a:srgbClr val="F59E0B"/>
                </a:solidFill>
              </a:defRPr>
            </a:pPr>
            <a:r>
              <a:t>LEAD GENERATION</a:t>
            </a:r>
          </a:p>
          <a:p>
            <a:pPr>
              <a:spcAft>
                <a:spcPts val="400"/>
              </a:spcAft>
              <a:defRPr sz="1150">
                <a:solidFill>
                  <a:srgbClr val="111827"/>
                </a:solidFill>
              </a:defRPr>
            </a:pPr>
            <a:r>
              <a:t>• id, property_id, property_title</a:t>
            </a:r>
          </a:p>
          <a:p>
            <a:pPr>
              <a:spcAft>
                <a:spcPts val="400"/>
              </a:spcAft>
              <a:defRPr sz="1150">
                <a:solidFill>
                  <a:srgbClr val="111827"/>
                </a:solidFill>
              </a:defRPr>
            </a:pPr>
            <a:r>
              <a:t>• user_name, user_email, user_phone</a:t>
            </a:r>
          </a:p>
          <a:p>
            <a:pPr>
              <a:spcAft>
                <a:spcPts val="400"/>
              </a:spcAft>
              <a:defRPr sz="1150">
                <a:solidFill>
                  <a:srgbClr val="111827"/>
                </a:solidFill>
              </a:defRPr>
            </a:pPr>
            <a:r>
              <a:t>• visit_date, visit_time, visit_type</a:t>
            </a:r>
          </a:p>
          <a:p>
            <a:pPr>
              <a:spcAft>
                <a:spcPts val="400"/>
              </a:spcAft>
              <a:defRPr sz="1150">
                <a:solidFill>
                  <a:srgbClr val="111827"/>
                </a:solidFill>
              </a:defRPr>
            </a:pPr>
            <a:r>
              <a:t>• status: 'pending'|'contacted'|'completed'</a:t>
            </a:r>
          </a:p>
        </p:txBody>
      </p:sp>
      <p:sp>
        <p:nvSpPr>
          <p:cNvPr id="10" name="Rounded Rectangle 9"/>
          <p:cNvSpPr/>
          <p:nvPr/>
        </p:nvSpPr>
        <p:spPr>
          <a:xfrm>
            <a:off x="4389120" y="3931920"/>
            <a:ext cx="3291840" cy="237744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4114800"/>
            <a:ext cx="2834640" cy="2011680"/>
          </a:xfrm>
          <a:prstGeom prst="rect">
            <a:avLst/>
          </a:prstGeom>
          <a:noFill/>
        </p:spPr>
        <p:txBody>
          <a:bodyPr wrap="square" tIns="0" bIns="0" lIns="0" rIns="0">
            <a:spAutoFit/>
          </a:bodyPr>
          <a:lstStyle/>
          <a:p>
            <a:pPr>
              <a:defRPr sz="1500" b="1">
                <a:solidFill>
                  <a:srgbClr val="0F5B46"/>
                </a:solidFill>
              </a:defRPr>
            </a:pPr>
            <a:r>
              <a:t>Table: loan_applications</a:t>
            </a:r>
          </a:p>
          <a:p>
            <a:pPr>
              <a:spcAft>
                <a:spcPts val="600"/>
              </a:spcAft>
              <a:defRPr sz="950" b="1">
                <a:solidFill>
                  <a:srgbClr val="F59E0B"/>
                </a:solidFill>
              </a:defRPr>
            </a:pPr>
            <a:r>
              <a:t>MORTGAGE FINANCING</a:t>
            </a:r>
          </a:p>
          <a:p>
            <a:pPr>
              <a:spcAft>
                <a:spcPts val="400"/>
              </a:spcAft>
              <a:defRPr sz="1150">
                <a:solidFill>
                  <a:srgbClr val="111827"/>
                </a:solidFill>
              </a:defRPr>
            </a:pPr>
            <a:r>
              <a:t>• id, full_name, email, phone</a:t>
            </a:r>
          </a:p>
          <a:p>
            <a:pPr>
              <a:spcAft>
                <a:spcPts val="400"/>
              </a:spcAft>
              <a:defRPr sz="1150">
                <a:solidFill>
                  <a:srgbClr val="111827"/>
                </a:solidFill>
              </a:defRPr>
            </a:pPr>
            <a:r>
              <a:t>• loan_amount, monthly_income, city</a:t>
            </a:r>
          </a:p>
          <a:p>
            <a:pPr>
              <a:spcAft>
                <a:spcPts val="400"/>
              </a:spcAft>
              <a:defRPr sz="1150">
                <a:solidFill>
                  <a:srgbClr val="111827"/>
                </a:solidFill>
              </a:defRPr>
            </a:pPr>
            <a:r>
              <a:t>• employment_type, bank_preference</a:t>
            </a:r>
          </a:p>
          <a:p>
            <a:pPr>
              <a:spcAft>
                <a:spcPts val="400"/>
              </a:spcAft>
              <a:defRPr sz="1150">
                <a:solidFill>
                  <a:srgbClr val="111827"/>
                </a:solidFill>
              </a:defRPr>
            </a:pPr>
            <a:r>
              <a:t>• status: 'Under Review'|'Approved'</a:t>
            </a:r>
          </a:p>
        </p:txBody>
      </p:sp>
      <p:sp>
        <p:nvSpPr>
          <p:cNvPr id="12" name="Rounded Rectangle 11"/>
          <p:cNvSpPr/>
          <p:nvPr/>
        </p:nvSpPr>
        <p:spPr>
          <a:xfrm>
            <a:off x="8046720" y="3931920"/>
            <a:ext cx="3291840" cy="237744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4114800"/>
            <a:ext cx="2834640" cy="2011680"/>
          </a:xfrm>
          <a:prstGeom prst="rect">
            <a:avLst/>
          </a:prstGeom>
          <a:noFill/>
        </p:spPr>
        <p:txBody>
          <a:bodyPr wrap="square" tIns="0" bIns="0" lIns="0" rIns="0">
            <a:spAutoFit/>
          </a:bodyPr>
          <a:lstStyle/>
          <a:p>
            <a:pPr>
              <a:defRPr sz="1500" b="1">
                <a:solidFill>
                  <a:srgbClr val="0F5B46"/>
                </a:solidFill>
              </a:defRPr>
            </a:pPr>
            <a:r>
              <a:t>Table: design_requests</a:t>
            </a:r>
          </a:p>
          <a:p>
            <a:pPr>
              <a:spcAft>
                <a:spcPts val="600"/>
              </a:spcAft>
              <a:defRPr sz="950" b="1">
                <a:solidFill>
                  <a:srgbClr val="F59E0B"/>
                </a:solidFill>
              </a:defRPr>
            </a:pPr>
            <a:r>
              <a:t>ARCHITECTURE STUDIO</a:t>
            </a:r>
          </a:p>
          <a:p>
            <a:pPr>
              <a:spcAft>
                <a:spcPts val="400"/>
              </a:spcAft>
              <a:defRPr sz="1150">
                <a:solidFill>
                  <a:srgbClr val="111827"/>
                </a:solidFill>
              </a:defRPr>
            </a:pPr>
            <a:r>
              <a:t>• id, full_name, email, phone</a:t>
            </a:r>
          </a:p>
          <a:p>
            <a:pPr>
              <a:spcAft>
                <a:spcPts val="400"/>
              </a:spcAft>
              <a:defRPr sz="1150">
                <a:solidFill>
                  <a:srgbClr val="111827"/>
                </a:solidFill>
              </a:defRPr>
            </a:pPr>
            <a:r>
              <a:t>• service_type, property_area</a:t>
            </a:r>
          </a:p>
          <a:p>
            <a:pPr>
              <a:spcAft>
                <a:spcPts val="400"/>
              </a:spcAft>
              <a:defRPr sz="1150">
                <a:solidFill>
                  <a:srgbClr val="111827"/>
                </a:solidFill>
              </a:defRPr>
            </a:pPr>
            <a:r>
              <a:t>• budget_range, message</a:t>
            </a:r>
          </a:p>
          <a:p>
            <a:pPr>
              <a:spcAft>
                <a:spcPts val="400"/>
              </a:spcAft>
              <a:defRPr sz="1150">
                <a:solidFill>
                  <a:srgbClr val="111827"/>
                </a:solidFill>
              </a:defRPr>
            </a:pPr>
            <a:r>
              <a:t>• status: 'pending'|'in_progress'|'completed'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CORE MODULES</a:t>
            </a:r>
          </a:p>
          <a:p>
            <a:pPr>
              <a:defRPr sz="2200" b="1">
                <a:solidFill>
                  <a:srgbClr val="FFFFFF"/>
                </a:solidFill>
              </a:defRPr>
            </a:pPr>
            <a:r>
              <a:t>Module 1: Homepage &amp; Hero Experience (`index.html`)</a:t>
            </a:r>
          </a:p>
          <a:p>
            <a:pPr>
              <a:defRPr sz="1100">
                <a:solidFill>
                  <a:srgbClr val="D1FAE5"/>
                </a:solidFill>
              </a:defRPr>
            </a:pPr>
            <a:r>
              <a:t>The visual anchor matching modern luxury aesthetics</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Hero Banner &amp; Floating AI Badges</a:t>
            </a:r>
          </a:p>
          <a:p>
            <a:pPr>
              <a:spcAft>
                <a:spcPts val="600"/>
              </a:spcAft>
              <a:defRPr sz="950" b="1">
                <a:solidFill>
                  <a:srgbClr val="F59E0B"/>
                </a:solidFill>
              </a:defRPr>
            </a:pPr>
            <a:r>
              <a:t>VISUAL LUXURY</a:t>
            </a:r>
          </a:p>
          <a:p>
            <a:pPr>
              <a:spcAft>
                <a:spcPts val="400"/>
              </a:spcAft>
              <a:defRPr sz="1150">
                <a:solidFill>
                  <a:srgbClr val="111827"/>
                </a:solidFill>
              </a:defRPr>
            </a:pPr>
            <a:r>
              <a:t>• Luxury Hero Villa Backdrop: High-resolution architecture visual with dark gradient overlay for optimal readability.</a:t>
            </a:r>
          </a:p>
          <a:p>
            <a:pPr>
              <a:spcAft>
                <a:spcPts val="400"/>
              </a:spcAft>
              <a:defRPr sz="1150">
                <a:solidFill>
                  <a:srgbClr val="111827"/>
                </a:solidFill>
              </a:defRPr>
            </a:pPr>
            <a:r>
              <a:t>• Floating Glassmorphic AI Badge #1: Displays '94% AI Match' with sparkling animated indicators.</a:t>
            </a:r>
          </a:p>
          <a:p>
            <a:pPr>
              <a:spcAft>
                <a:spcPts val="400"/>
              </a:spcAft>
              <a:defRPr sz="1150">
                <a:solidFill>
                  <a:srgbClr val="111827"/>
                </a:solidFill>
              </a:defRPr>
            </a:pPr>
            <a:r>
              <a:t>• Floating Glassmorphic AI Badge #2: Displays 'Property Value ₹48.5 Lakh' with green '+10% Value Growth' tag.</a:t>
            </a:r>
          </a:p>
          <a:p>
            <a:pPr>
              <a:spcAft>
                <a:spcPts val="400"/>
              </a:spcAft>
              <a:defRPr sz="1150">
                <a:solidFill>
                  <a:srgbClr val="111827"/>
                </a:solidFill>
              </a:defRPr>
            </a:pPr>
            <a:r>
              <a:t>• Hero Call-to-Actions: Instant buttons to 'Explore Properties' and 'List Your Property'.</a:t>
            </a:r>
          </a:p>
          <a:p>
            <a:pPr>
              <a:spcAft>
                <a:spcPts val="400"/>
              </a:spcAft>
              <a:defRPr sz="1150">
                <a:solidFill>
                  <a:srgbClr val="111827"/>
                </a:solidFill>
              </a:defRPr>
            </a:pPr>
            <a:r>
              <a:t>• Trust Bar Indicators: Showcases RERA certification, 10,000+ verified homes, and 98% customer satisfaction.</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Multi-Tab Search &amp; Quick Actions</a:t>
            </a:r>
          </a:p>
          <a:p>
            <a:pPr>
              <a:spcAft>
                <a:spcPts val="600"/>
              </a:spcAft>
              <a:defRPr sz="950" b="1">
                <a:solidFill>
                  <a:srgbClr val="F59E0B"/>
                </a:solidFill>
              </a:defRPr>
            </a:pPr>
            <a:r>
              <a:t>INTERACTIVE DISCOVERY</a:t>
            </a:r>
          </a:p>
          <a:p>
            <a:pPr>
              <a:spcAft>
                <a:spcPts val="400"/>
              </a:spcAft>
              <a:defRPr sz="1150">
                <a:solidFill>
                  <a:srgbClr val="111827"/>
                </a:solidFill>
              </a:defRPr>
            </a:pPr>
            <a:r>
              <a:t>• 3 Search Modes: Instant tab switching between 'Buy', 'Rent', and 'Commercial' properties.</a:t>
            </a:r>
          </a:p>
          <a:p>
            <a:pPr>
              <a:spcAft>
                <a:spcPts val="400"/>
              </a:spcAft>
              <a:defRPr sz="1150">
                <a:solidFill>
                  <a:srgbClr val="111827"/>
                </a:solidFill>
              </a:defRPr>
            </a:pPr>
            <a:r>
              <a:t>• Location &amp; Budget Selectors: Dropdowns for top Indian metros (Bangalore, Mumbai, Hyderabad, Pune, Gurgaon) and price ranges.</a:t>
            </a:r>
          </a:p>
          <a:p>
            <a:pPr>
              <a:spcAft>
                <a:spcPts val="400"/>
              </a:spcAft>
              <a:defRPr sz="1150">
                <a:solidFill>
                  <a:srgbClr val="111827"/>
                </a:solidFill>
              </a:defRPr>
            </a:pPr>
            <a:r>
              <a:t>• 6 Interactive Quick Actions: Grid routing to Buy, Rent, Sell, Interior Design, House Plans, and Home Loans.</a:t>
            </a:r>
          </a:p>
          <a:p>
            <a:pPr>
              <a:spcAft>
                <a:spcPts val="400"/>
              </a:spcAft>
              <a:defRPr sz="1150">
                <a:solidFill>
                  <a:srgbClr val="111827"/>
                </a:solidFill>
              </a:defRPr>
            </a:pPr>
            <a:r>
              <a:t>• Featured Showcase Grid: Dynamic Hero Property Card alongside two stacked secondary luxury villa cards with verified badges.</a:t>
            </a:r>
          </a:p>
          <a:p>
            <a:pPr>
              <a:spcAft>
                <a:spcPts val="400"/>
              </a:spcAft>
              <a:defRPr sz="1150">
                <a:solidFill>
                  <a:srgbClr val="111827"/>
                </a:solidFill>
              </a:defRPr>
            </a:pPr>
            <a:r>
              <a:t>• Integrated 4-Step Journey: Discover -&gt; Buy/Rent -&gt; Design -&gt; Build.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ARTIFICIAL INTELLIGENCE</a:t>
            </a:r>
          </a:p>
          <a:p>
            <a:pPr>
              <a:defRPr sz="2200" b="1">
                <a:solidFill>
                  <a:srgbClr val="FFFFFF"/>
                </a:solidFill>
              </a:defRPr>
            </a:pPr>
            <a:r>
              <a:t>Module 2: AI Property Matchmaker &amp; Copilot</a:t>
            </a:r>
          </a:p>
          <a:p>
            <a:pPr>
              <a:defRPr sz="1100">
                <a:solidFill>
                  <a:srgbClr val="D1FAE5"/>
                </a:solidFill>
              </a:defRPr>
            </a:pPr>
            <a:r>
              <a:t>Natural language property matching powered by backend semantic algorithms</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In-Page Conversational AI Assistant</a:t>
            </a:r>
          </a:p>
          <a:p>
            <a:pPr>
              <a:spcAft>
                <a:spcPts val="600"/>
              </a:spcAft>
              <a:defRPr sz="950" b="1">
                <a:solidFill>
                  <a:srgbClr val="F59E0B"/>
                </a:solidFill>
              </a:defRPr>
            </a:pPr>
            <a:r>
              <a:t>IN-PAGE ASSISTANT</a:t>
            </a:r>
          </a:p>
          <a:p>
            <a:pPr>
              <a:spcAft>
                <a:spcPts val="400"/>
              </a:spcAft>
              <a:defRPr sz="1150">
                <a:solidFill>
                  <a:srgbClr val="111827"/>
                </a:solidFill>
              </a:defRPr>
            </a:pPr>
            <a:r>
              <a:t>• Natural Language Parsing: Analyzes free-form user prompts (e.g., 'Find 3 BHK villa in Bangalore under 1.5 Cr with pool').</a:t>
            </a:r>
          </a:p>
          <a:p>
            <a:pPr>
              <a:spcAft>
                <a:spcPts val="400"/>
              </a:spcAft>
              <a:defRPr sz="1150">
                <a:solidFill>
                  <a:srgbClr val="111827"/>
                </a:solidFill>
              </a:defRPr>
            </a:pPr>
            <a:r>
              <a:t>• Parameter Extraction Engine: Automatically detects city, bedroom configuration, property category, and financial limits.</a:t>
            </a:r>
          </a:p>
          <a:p>
            <a:pPr>
              <a:spcAft>
                <a:spcPts val="400"/>
              </a:spcAft>
              <a:defRPr sz="1150">
                <a:solidFill>
                  <a:srgbClr val="111827"/>
                </a:solidFill>
              </a:defRPr>
            </a:pPr>
            <a:r>
              <a:t>• Contextual AI Explanations: Responds with friendly conversational recommendations explaining why properties match.</a:t>
            </a:r>
          </a:p>
          <a:p>
            <a:pPr>
              <a:spcAft>
                <a:spcPts val="400"/>
              </a:spcAft>
              <a:defRPr sz="1150">
                <a:solidFill>
                  <a:srgbClr val="111827"/>
                </a:solidFill>
              </a:defRPr>
            </a:pPr>
            <a:r>
              <a:t>• Triple AI Metric Evaluation:</a:t>
            </a:r>
          </a:p>
          <a:p>
            <a:pPr>
              <a:spcAft>
                <a:spcPts val="400"/>
              </a:spcAft>
              <a:defRPr sz="1150">
                <a:solidFill>
                  <a:srgbClr val="111827"/>
                </a:solidFill>
              </a:defRPr>
            </a:pPr>
            <a:r>
              <a:t>•   • AI Match Percentage (e.g. 94% Match)</a:t>
            </a:r>
          </a:p>
          <a:p>
            <a:pPr>
              <a:spcAft>
                <a:spcPts val="400"/>
              </a:spcAft>
              <a:defRPr sz="1150">
                <a:solidFill>
                  <a:srgbClr val="111827"/>
                </a:solidFill>
              </a:defRPr>
            </a:pPr>
            <a:r>
              <a:t>•   • Location Convenience Score (e.g. 9.2 / 10)</a:t>
            </a:r>
          </a:p>
          <a:p>
            <a:pPr>
              <a:spcAft>
                <a:spcPts val="400"/>
              </a:spcAft>
              <a:defRPr sz="1150">
                <a:solidFill>
                  <a:srgbClr val="111827"/>
                </a:solidFill>
              </a:defRPr>
            </a:pPr>
            <a:r>
              <a:t>•   • Lifestyle &amp; Amenity Score (e.g. 95 / 100)</a:t>
            </a:r>
          </a:p>
          <a:p>
            <a:pPr>
              <a:spcAft>
                <a:spcPts val="400"/>
              </a:spcAft>
              <a:defRPr sz="1150">
                <a:solidFill>
                  <a:srgbClr val="111827"/>
                </a:solidFill>
              </a:defRPr>
            </a:pPr>
            <a:r>
              <a:t>• Direct Property Card Previews: Displays recommendation cards directly inside the conversation.</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Universal Floating AI Copilot Widget</a:t>
            </a:r>
          </a:p>
          <a:p>
            <a:pPr>
              <a:spcAft>
                <a:spcPts val="600"/>
              </a:spcAft>
              <a:defRPr sz="950" b="1">
                <a:solidFill>
                  <a:srgbClr val="F59E0B"/>
                </a:solidFill>
              </a:defRPr>
            </a:pPr>
            <a:r>
              <a:t>NEW FEATURE ADDITION</a:t>
            </a:r>
          </a:p>
          <a:p>
            <a:pPr>
              <a:spcAft>
                <a:spcPts val="400"/>
              </a:spcAft>
              <a:defRPr sz="1150">
                <a:solidFill>
                  <a:srgbClr val="111827"/>
                </a:solidFill>
              </a:defRPr>
            </a:pPr>
            <a:r>
              <a:t>• Global Presence: Emerald gradient floating widget accessible in the bottom-right corner of EVERY page on the site.</a:t>
            </a:r>
          </a:p>
          <a:p>
            <a:pPr>
              <a:spcAft>
                <a:spcPts val="400"/>
              </a:spcAft>
              <a:defRPr sz="1150">
                <a:solidFill>
                  <a:srgbClr val="111827"/>
                </a:solidFill>
              </a:defRPr>
            </a:pPr>
            <a:r>
              <a:t>• Instant Suggestion Chips: Pre-configured 1-click prompts:</a:t>
            </a:r>
          </a:p>
          <a:p>
            <a:pPr>
              <a:spcAft>
                <a:spcPts val="400"/>
              </a:spcAft>
              <a:defRPr sz="1150">
                <a:solidFill>
                  <a:srgbClr val="111827"/>
                </a:solidFill>
              </a:defRPr>
            </a:pPr>
            <a:r>
              <a:t>•   • '3 BHK in Bangalore under 1.5 Cr'</a:t>
            </a:r>
          </a:p>
          <a:p>
            <a:pPr>
              <a:spcAft>
                <a:spcPts val="400"/>
              </a:spcAft>
              <a:defRPr sz="1150">
                <a:solidFill>
                  <a:srgbClr val="111827"/>
                </a:solidFill>
              </a:defRPr>
            </a:pPr>
            <a:r>
              <a:t>•   • 'Luxury Villa with Pool'</a:t>
            </a:r>
          </a:p>
          <a:p>
            <a:pPr>
              <a:spcAft>
                <a:spcPts val="400"/>
              </a:spcAft>
              <a:defRPr sz="1150">
                <a:solidFill>
                  <a:srgbClr val="111827"/>
                </a:solidFill>
              </a:defRPr>
            </a:pPr>
            <a:r>
              <a:t>•   • 'Rental in Mumbai'</a:t>
            </a:r>
          </a:p>
          <a:p>
            <a:pPr>
              <a:spcAft>
                <a:spcPts val="400"/>
              </a:spcAft>
              <a:defRPr sz="1150">
                <a:solidFill>
                  <a:srgbClr val="111827"/>
                </a:solidFill>
              </a:defRPr>
            </a:pPr>
            <a:r>
              <a:t>•   • 'Home Loan for 60L'</a:t>
            </a:r>
          </a:p>
          <a:p>
            <a:pPr>
              <a:spcAft>
                <a:spcPts val="400"/>
              </a:spcAft>
              <a:defRPr sz="1150">
                <a:solidFill>
                  <a:srgbClr val="111827"/>
                </a:solidFill>
              </a:defRPr>
            </a:pPr>
            <a:r>
              <a:t>• Live REST API Connection: Communicates with `/api/ai/chat` in real time.</a:t>
            </a:r>
          </a:p>
          <a:p>
            <a:pPr>
              <a:spcAft>
                <a:spcPts val="400"/>
              </a:spcAft>
              <a:defRPr sz="1150">
                <a:solidFill>
                  <a:srgbClr val="111827"/>
                </a:solidFill>
              </a:defRPr>
            </a:pPr>
            <a:r>
              <a:t>• Interactive Card Actions: 1-click 'View Details' opens the full property modal without page reloading.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MARKETPLACE</a:t>
            </a:r>
          </a:p>
          <a:p>
            <a:pPr>
              <a:defRPr sz="2200" b="1">
                <a:solidFill>
                  <a:srgbClr val="FFFFFF"/>
                </a:solidFill>
              </a:defRPr>
            </a:pPr>
            <a:r>
              <a:t>Module 3: Buy &amp; Rent Marketplaces (`buy.html`, `rent.html`)</a:t>
            </a:r>
          </a:p>
          <a:p>
            <a:pPr>
              <a:defRPr sz="1100">
                <a:solidFill>
                  <a:srgbClr val="D1FAE5"/>
                </a:solidFill>
              </a:defRPr>
            </a:pPr>
            <a:r>
              <a:t>Dynamic parameter filtration, sorting algorithms, and live autocomplete</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Dynamic Search &amp; Filtration Engine</a:t>
            </a:r>
          </a:p>
          <a:p>
            <a:pPr>
              <a:spcAft>
                <a:spcPts val="600"/>
              </a:spcAft>
              <a:defRPr sz="950" b="1">
                <a:solidFill>
                  <a:srgbClr val="F59E0B"/>
                </a:solidFill>
              </a:defRPr>
            </a:pPr>
            <a:r>
              <a:t>MARKETPLACE FILTERING</a:t>
            </a:r>
          </a:p>
          <a:p>
            <a:pPr>
              <a:spcAft>
                <a:spcPts val="400"/>
              </a:spcAft>
              <a:defRPr sz="1150">
                <a:solidFill>
                  <a:srgbClr val="111827"/>
                </a:solidFill>
              </a:defRPr>
            </a:pPr>
            <a:r>
              <a:t>• Location Filter: Top Indian technology and commercial hubs (Bangalore, Mumbai, Hyderabad, Pune, Gurgaon).</a:t>
            </a:r>
          </a:p>
          <a:p>
            <a:pPr>
              <a:spcAft>
                <a:spcPts val="400"/>
              </a:spcAft>
              <a:defRPr sz="1150">
                <a:solidFill>
                  <a:srgbClr val="111827"/>
                </a:solidFill>
              </a:defRPr>
            </a:pPr>
            <a:r>
              <a:t>• Property Type Filter: Villas, High-rise Apartments, Sky Penthouses, and Commercial spaces.</a:t>
            </a:r>
          </a:p>
          <a:p>
            <a:pPr>
              <a:spcAft>
                <a:spcPts val="400"/>
              </a:spcAft>
              <a:defRPr sz="1150">
                <a:solidFill>
                  <a:srgbClr val="111827"/>
                </a:solidFill>
              </a:defRPr>
            </a:pPr>
            <a:r>
              <a:t>• BHK Bedroom Chips: Interactive 1 BHK, 2 BHK, 3 BHK, 4+ BHK toggles with real-time UI synchronization.</a:t>
            </a:r>
          </a:p>
          <a:p>
            <a:pPr>
              <a:spcAft>
                <a:spcPts val="400"/>
              </a:spcAft>
              <a:defRPr sz="1150">
                <a:solidFill>
                  <a:srgbClr val="111827"/>
                </a:solidFill>
              </a:defRPr>
            </a:pPr>
            <a:r>
              <a:t>• Budget Preset Filters: Custom range selectors from Under ₹50 Lakh up to ₹2 Crore+.</a:t>
            </a:r>
          </a:p>
          <a:p>
            <a:pPr>
              <a:spcAft>
                <a:spcPts val="400"/>
              </a:spcAft>
              <a:defRPr sz="1150">
                <a:solidFill>
                  <a:srgbClr val="111827"/>
                </a:solidFill>
              </a:defRPr>
            </a:pPr>
            <a:r>
              <a:t>• Multi-Mode Sorting Options:</a:t>
            </a:r>
          </a:p>
          <a:p>
            <a:pPr>
              <a:spcAft>
                <a:spcPts val="400"/>
              </a:spcAft>
              <a:defRPr sz="1150">
                <a:solidFill>
                  <a:srgbClr val="111827"/>
                </a:solidFill>
              </a:defRPr>
            </a:pPr>
            <a:r>
              <a:t>•   • Featured &amp; Recommended</a:t>
            </a:r>
          </a:p>
          <a:p>
            <a:pPr>
              <a:spcAft>
                <a:spcPts val="400"/>
              </a:spcAft>
              <a:defRPr sz="1150">
                <a:solidFill>
                  <a:srgbClr val="111827"/>
                </a:solidFill>
              </a:defRPr>
            </a:pPr>
            <a:r>
              <a:t>•   • Highest AI Match %</a:t>
            </a:r>
          </a:p>
          <a:p>
            <a:pPr>
              <a:spcAft>
                <a:spcPts val="400"/>
              </a:spcAft>
              <a:defRPr sz="1150">
                <a:solidFill>
                  <a:srgbClr val="111827"/>
                </a:solidFill>
              </a:defRPr>
            </a:pPr>
            <a:r>
              <a:t>•   • Price: Low to High / High to Low</a:t>
            </a:r>
          </a:p>
          <a:p>
            <a:pPr>
              <a:spcAft>
                <a:spcPts val="400"/>
              </a:spcAft>
              <a:defRPr sz="1150">
                <a:solidFill>
                  <a:srgbClr val="111827"/>
                </a:solidFill>
              </a:defRPr>
            </a:pPr>
            <a:r>
              <a:t>•   • Best Location Rating Score</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Live Navbar Search Autocomplete</a:t>
            </a:r>
          </a:p>
          <a:p>
            <a:pPr>
              <a:spcAft>
                <a:spcPts val="600"/>
              </a:spcAft>
              <a:defRPr sz="950" b="1">
                <a:solidFill>
                  <a:srgbClr val="F59E0B"/>
                </a:solidFill>
              </a:defRPr>
            </a:pPr>
            <a:r>
              <a:t>NEW FEATURE ADDITION</a:t>
            </a:r>
          </a:p>
          <a:p>
            <a:pPr>
              <a:spcAft>
                <a:spcPts val="400"/>
              </a:spcAft>
              <a:defRPr sz="1150">
                <a:solidFill>
                  <a:srgbClr val="111827"/>
                </a:solidFill>
              </a:defRPr>
            </a:pPr>
            <a:r>
              <a:t>• Instant Debounced Search: Queries the API after 2 characters with 280ms debouncing to minimize server load.</a:t>
            </a:r>
          </a:p>
          <a:p>
            <a:pPr>
              <a:spcAft>
                <a:spcPts val="400"/>
              </a:spcAft>
              <a:defRPr sz="1150">
                <a:solidFill>
                  <a:srgbClr val="111827"/>
                </a:solidFill>
              </a:defRPr>
            </a:pPr>
            <a:r>
              <a:t>• Rich Dropdown Previews: Displays thumbnail image, property title, BHK configuration, city, and formatted price.</a:t>
            </a:r>
          </a:p>
          <a:p>
            <a:pPr>
              <a:spcAft>
                <a:spcPts val="400"/>
              </a:spcAft>
              <a:defRPr sz="1150">
                <a:solidFill>
                  <a:srgbClr val="111827"/>
                </a:solidFill>
              </a:defRPr>
            </a:pPr>
            <a:r>
              <a:t>• Keyboard &amp; Mouse Navigation: Pressing Enter or clicking takes the user directly to filtered results or modal.</a:t>
            </a:r>
          </a:p>
          <a:p>
            <a:pPr>
              <a:spcAft>
                <a:spcPts val="400"/>
              </a:spcAft>
              <a:defRPr sz="1150">
                <a:solidFill>
                  <a:srgbClr val="111827"/>
                </a:solidFill>
              </a:defRPr>
            </a:pPr>
            <a:r>
              <a:t>• Zero Results Graceful Handling: Suggests resetting filters when no matching properties match query criteria.</a:t>
            </a:r>
          </a:p>
          <a:p>
            <a:pPr>
              <a:spcAft>
                <a:spcPts val="400"/>
              </a:spcAft>
              <a:defRPr sz="1150">
                <a:solidFill>
                  <a:srgbClr val="111827"/>
                </a:solidFill>
              </a:defRPr>
            </a:pPr>
            <a:r>
              <a:t>• Instant Filter Reset: 1-click 'Reset All Filters' restores full property catalog.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USER EXPERIENCE</a:t>
            </a:r>
          </a:p>
          <a:p>
            <a:pPr>
              <a:defRPr sz="2200" b="1">
                <a:solidFill>
                  <a:srgbClr val="FFFFFF"/>
                </a:solidFill>
              </a:defRPr>
            </a:pPr>
            <a:r>
              <a:t>Module 4: Persistent Favorites &amp; Wishlist Drawer</a:t>
            </a:r>
          </a:p>
          <a:p>
            <a:pPr>
              <a:defRPr sz="1100">
                <a:solidFill>
                  <a:srgbClr val="D1FAE5"/>
                </a:solidFill>
              </a:defRPr>
            </a:pPr>
            <a:r>
              <a:t>Seamless cross-page property bookmarking and WhatsApp export</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Persistent LocalStorage Wishlist</a:t>
            </a:r>
          </a:p>
          <a:p>
            <a:pPr>
              <a:spcAft>
                <a:spcPts val="600"/>
              </a:spcAft>
              <a:defRPr sz="950" b="1">
                <a:solidFill>
                  <a:srgbClr val="F59E0B"/>
                </a:solidFill>
              </a:defRPr>
            </a:pPr>
            <a:r>
              <a:t>STATE MANAGEMENT</a:t>
            </a:r>
          </a:p>
          <a:p>
            <a:pPr>
              <a:spcAft>
                <a:spcPts val="400"/>
              </a:spcAft>
              <a:defRPr sz="1150">
                <a:solidFill>
                  <a:srgbClr val="111827"/>
                </a:solidFill>
              </a:defRPr>
            </a:pPr>
            <a:r>
              <a:t>• 1-Click Heart Favoriting: Clicking the heart icon on any card immediately toggles saved status with toast feedback.</a:t>
            </a:r>
          </a:p>
          <a:p>
            <a:pPr>
              <a:spcAft>
                <a:spcPts val="400"/>
              </a:spcAft>
              <a:defRPr sz="1150">
                <a:solidFill>
                  <a:srgbClr val="111827"/>
                </a:solidFill>
              </a:defRPr>
            </a:pPr>
            <a:r>
              <a:t>• Client-Side State Persistence: Stored in browser `localStorage` (`xen_favorites`), persisting across sessions and page refreshes.</a:t>
            </a:r>
          </a:p>
          <a:p>
            <a:pPr>
              <a:spcAft>
                <a:spcPts val="400"/>
              </a:spcAft>
              <a:defRPr sz="1150">
                <a:solidFill>
                  <a:srgbClr val="111827"/>
                </a:solidFill>
              </a:defRPr>
            </a:pPr>
            <a:r>
              <a:t>• Navbar Live Badge Counter: Shows active saved count (`Saved (3)`) in the top navigation bar.</a:t>
            </a:r>
          </a:p>
          <a:p>
            <a:pPr>
              <a:spcAft>
                <a:spcPts val="400"/>
              </a:spcAft>
              <a:defRPr sz="1150">
                <a:solidFill>
                  <a:srgbClr val="111827"/>
                </a:solidFill>
              </a:defRPr>
            </a:pPr>
            <a:r>
              <a:t>• Global UI Synchronization: Toggling a favorite updates heart icons across the hero card, side stack, marketplace, and modal simultaneously.</a:t>
            </a:r>
          </a:p>
          <a:p>
            <a:pPr>
              <a:spcAft>
                <a:spcPts val="400"/>
              </a:spcAft>
              <a:defRPr sz="1150">
                <a:solidFill>
                  <a:srgbClr val="111827"/>
                </a:solidFill>
              </a:defRPr>
            </a:pPr>
            <a:r>
              <a:t>• Zero Login Dependency: Guests can bookmark homes immediately without mandatory registration barriers.</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Interactive Slide-Over Drawer &amp; Export</a:t>
            </a:r>
          </a:p>
          <a:p>
            <a:pPr>
              <a:spcAft>
                <a:spcPts val="600"/>
              </a:spcAft>
              <a:defRPr sz="950" b="1">
                <a:solidFill>
                  <a:srgbClr val="F59E0B"/>
                </a:solidFill>
              </a:defRPr>
            </a:pPr>
            <a:r>
              <a:t>NEW FEATURE ADDITION</a:t>
            </a:r>
          </a:p>
          <a:p>
            <a:pPr>
              <a:spcAft>
                <a:spcPts val="400"/>
              </a:spcAft>
              <a:defRPr sz="1150">
                <a:solidFill>
                  <a:srgbClr val="111827"/>
                </a:solidFill>
              </a:defRPr>
            </a:pPr>
            <a:r>
              <a:t>• Right-Hand Slide Panel: Smooth cubic-bezier transition drawer opening over page backdrop.</a:t>
            </a:r>
          </a:p>
          <a:p>
            <a:pPr>
              <a:spcAft>
                <a:spcPts val="400"/>
              </a:spcAft>
              <a:defRPr sz="1150">
                <a:solidFill>
                  <a:srgbClr val="111827"/>
                </a:solidFill>
              </a:defRPr>
            </a:pPr>
            <a:r>
              <a:t>• Saved Property Cards: High-res thumbnails, formatted prices, city locations, and action buttons.</a:t>
            </a:r>
          </a:p>
          <a:p>
            <a:pPr>
              <a:spcAft>
                <a:spcPts val="400"/>
              </a:spcAft>
              <a:defRPr sz="1150">
                <a:solidFill>
                  <a:srgbClr val="111827"/>
                </a:solidFill>
              </a:defRPr>
            </a:pPr>
            <a:r>
              <a:t>• 1-Click Navigation: 'View' button opens property detail modal directly from within the drawer.</a:t>
            </a:r>
          </a:p>
          <a:p>
            <a:pPr>
              <a:spcAft>
                <a:spcPts val="400"/>
              </a:spcAft>
              <a:defRPr sz="1150">
                <a:solidFill>
                  <a:srgbClr val="111827"/>
                </a:solidFill>
              </a:defRPr>
            </a:pPr>
            <a:r>
              <a:t>• WhatsApp Wishlist Export: Generates pre-formatted WhatsApp message containing saved property titles, prices, and direct links.</a:t>
            </a:r>
          </a:p>
          <a:p>
            <a:pPr>
              <a:spcAft>
                <a:spcPts val="400"/>
              </a:spcAft>
              <a:defRPr sz="1150">
                <a:solidFill>
                  <a:srgbClr val="111827"/>
                </a:solidFill>
              </a:defRPr>
            </a:pPr>
            <a:r>
              <a:t>• Bulk Management: 'Clear All' button with confirmation prompt to reset wishlist.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DECISION MAKING</a:t>
            </a:r>
          </a:p>
          <a:p>
            <a:pPr>
              <a:defRPr sz="2200" b="1">
                <a:solidFill>
                  <a:srgbClr val="FFFFFF"/>
                </a:solidFill>
              </a:defRPr>
            </a:pPr>
            <a:r>
              <a:t>Module 5: Side-by-Side Property Comparison Matrix</a:t>
            </a:r>
          </a:p>
          <a:p>
            <a:pPr>
              <a:defRPr sz="1100">
                <a:solidFill>
                  <a:srgbClr val="D1FAE5"/>
                </a:solidFill>
              </a:defRPr>
            </a:pPr>
            <a:r>
              <a:t>Empowering buyers to compare up to 4 luxury residences simultaneously</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Interactive Comparison Workflow</a:t>
            </a:r>
          </a:p>
          <a:p>
            <a:pPr>
              <a:spcAft>
                <a:spcPts val="600"/>
              </a:spcAft>
              <a:defRPr sz="950" b="1">
                <a:solidFill>
                  <a:srgbClr val="F59E0B"/>
                </a:solidFill>
              </a:defRPr>
            </a:pPr>
            <a:r>
              <a:t>COMPARISON DOCK</a:t>
            </a:r>
          </a:p>
          <a:p>
            <a:pPr>
              <a:spcAft>
                <a:spcPts val="400"/>
              </a:spcAft>
              <a:defRPr sz="1150">
                <a:solidFill>
                  <a:srgbClr val="111827"/>
                </a:solidFill>
              </a:defRPr>
            </a:pPr>
            <a:r>
              <a:t>• Compare Toggle Button: Present on every marketplace card and inside the property details modal.</a:t>
            </a:r>
          </a:p>
          <a:p>
            <a:pPr>
              <a:spcAft>
                <a:spcPts val="400"/>
              </a:spcAft>
              <a:defRPr sz="1150">
                <a:solidFill>
                  <a:srgbClr val="111827"/>
                </a:solidFill>
              </a:defRPr>
            </a:pPr>
            <a:r>
              <a:t>• Floating Sticky Dock: Selecting 1+ properties reveals an elegant dark dock at the bottom of the screen.</a:t>
            </a:r>
          </a:p>
          <a:p>
            <a:pPr>
              <a:spcAft>
                <a:spcPts val="400"/>
              </a:spcAft>
              <a:defRPr sz="1150">
                <a:solidFill>
                  <a:srgbClr val="111827"/>
                </a:solidFill>
              </a:defRPr>
            </a:pPr>
            <a:r>
              <a:t>• Visual Thumbnail Previews: Circular thumbnails with individual 'x' remove buttons and counter (`2 / 4 Selected`).</a:t>
            </a:r>
          </a:p>
          <a:p>
            <a:pPr>
              <a:spcAft>
                <a:spcPts val="400"/>
              </a:spcAft>
              <a:defRPr sz="1150">
                <a:solidFill>
                  <a:srgbClr val="111827"/>
                </a:solidFill>
              </a:defRPr>
            </a:pPr>
            <a:r>
              <a:t>• Capacity Limit Safeguard: Limits comparison to 4 properties to prevent cognitive overload and maintain responsive table layout.</a:t>
            </a:r>
          </a:p>
          <a:p>
            <a:pPr>
              <a:spcAft>
                <a:spcPts val="400"/>
              </a:spcAft>
              <a:defRPr sz="1150">
                <a:solidFill>
                  <a:srgbClr val="111827"/>
                </a:solidFill>
              </a:defRPr>
            </a:pPr>
            <a:r>
              <a:t>• Clear All Action: Instant reset button to dismiss comparison dock.</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Comprehensive Comparison Matrix Modal</a:t>
            </a:r>
          </a:p>
          <a:p>
            <a:pPr>
              <a:spcAft>
                <a:spcPts val="600"/>
              </a:spcAft>
              <a:defRPr sz="950" b="1">
                <a:solidFill>
                  <a:srgbClr val="F59E0B"/>
                </a:solidFill>
              </a:defRPr>
            </a:pPr>
            <a:r>
              <a:t>NEW FEATURE ADDITION</a:t>
            </a:r>
          </a:p>
          <a:p>
            <a:pPr>
              <a:spcAft>
                <a:spcPts val="400"/>
              </a:spcAft>
              <a:defRPr sz="1150">
                <a:solidFill>
                  <a:srgbClr val="111827"/>
                </a:solidFill>
              </a:defRPr>
            </a:pPr>
            <a:r>
              <a:t>• Side-by-Side Architectural Header: High-res images, property titles, locations, and prices.</a:t>
            </a:r>
          </a:p>
          <a:p>
            <a:pPr>
              <a:spcAft>
                <a:spcPts val="400"/>
              </a:spcAft>
              <a:defRPr sz="1150">
                <a:solidFill>
                  <a:srgbClr val="111827"/>
                </a:solidFill>
              </a:defRPr>
            </a:pPr>
            <a:r>
              <a:t>• Price per Square Foot Analysis: Auto-calculates `₹ / sq.ft` ratio for direct value comparison.</a:t>
            </a:r>
          </a:p>
          <a:p>
            <a:pPr>
              <a:spcAft>
                <a:spcPts val="400"/>
              </a:spcAft>
              <a:defRPr sz="1150">
                <a:solidFill>
                  <a:srgbClr val="111827"/>
                </a:solidFill>
              </a:defRPr>
            </a:pPr>
            <a:r>
              <a:t>• Specifications Grid: Bedrooms, Bathrooms, Carpet Area, and Furnishing status.</a:t>
            </a:r>
          </a:p>
          <a:p>
            <a:pPr>
              <a:spcAft>
                <a:spcPts val="400"/>
              </a:spcAft>
              <a:defRPr sz="1150">
                <a:solidFill>
                  <a:srgbClr val="111827"/>
                </a:solidFill>
              </a:defRPr>
            </a:pPr>
            <a:r>
              <a:t>• AI Metrics Contrast: Side-by-side AI Match % and Location Scores.</a:t>
            </a:r>
          </a:p>
          <a:p>
            <a:pPr>
              <a:spcAft>
                <a:spcPts val="400"/>
              </a:spcAft>
              <a:defRPr sz="1150">
                <a:solidFill>
                  <a:srgbClr val="111827"/>
                </a:solidFill>
              </a:defRPr>
            </a:pPr>
            <a:r>
              <a:t>• Key Amenities Checklist: Dynamic matrix showing green checkmarks vs grey dashes for Swimming Pool, Gym, Automation, etc.</a:t>
            </a:r>
          </a:p>
          <a:p>
            <a:pPr>
              <a:spcAft>
                <a:spcPts val="400"/>
              </a:spcAft>
              <a:defRPr sz="1150">
                <a:solidFill>
                  <a:srgbClr val="111827"/>
                </a:solidFill>
              </a:defRPr>
            </a:pPr>
            <a:r>
              <a:t>• Direct Booking Action: 1-click 'View Details' button per property.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FINANCING &amp; SHARING</a:t>
            </a:r>
          </a:p>
          <a:p>
            <a:pPr>
              <a:defRPr sz="2200" b="1">
                <a:solidFill>
                  <a:srgbClr val="FFFFFF"/>
                </a:solidFill>
              </a:defRPr>
            </a:pPr>
            <a:r>
              <a:t>Module 6: In-Modal Instant EMI Calculator &amp; Sharing</a:t>
            </a:r>
          </a:p>
          <a:p>
            <a:pPr>
              <a:defRPr sz="1100">
                <a:solidFill>
                  <a:srgbClr val="D1FAE5"/>
                </a:solidFill>
              </a:defRPr>
            </a:pPr>
            <a:r>
              <a:t>Contextual affordability tools embedded directly inside property details</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In-Modal Instant EMI Calculator</a:t>
            </a:r>
          </a:p>
          <a:p>
            <a:pPr>
              <a:spcAft>
                <a:spcPts val="600"/>
              </a:spcAft>
              <a:defRPr sz="950" b="1">
                <a:solidFill>
                  <a:srgbClr val="F59E0B"/>
                </a:solidFill>
              </a:defRPr>
            </a:pPr>
            <a:r>
              <a:t>NEW FEATURE ADDITION</a:t>
            </a:r>
          </a:p>
          <a:p>
            <a:pPr>
              <a:spcAft>
                <a:spcPts val="400"/>
              </a:spcAft>
              <a:defRPr sz="1150">
                <a:solidFill>
                  <a:srgbClr val="111827"/>
                </a:solidFill>
              </a:defRPr>
            </a:pPr>
            <a:r>
              <a:t>• Embedded Financial Context: Eliminates the need to navigate away from a property to calculate monthly mortgage payments.</a:t>
            </a:r>
          </a:p>
          <a:p>
            <a:pPr>
              <a:spcAft>
                <a:spcPts val="400"/>
              </a:spcAft>
              <a:defRPr sz="1150">
                <a:solidFill>
                  <a:srgbClr val="111827"/>
                </a:solidFill>
              </a:defRPr>
            </a:pPr>
            <a:r>
              <a:t>• Automatic Down Payment Calculation: Computes standard 20% down payment and 80% loan principal from property price.</a:t>
            </a:r>
          </a:p>
          <a:p>
            <a:pPr>
              <a:spcAft>
                <a:spcPts val="400"/>
              </a:spcAft>
              <a:defRPr sz="1150">
                <a:solidFill>
                  <a:srgbClr val="111827"/>
                </a:solidFill>
              </a:defRPr>
            </a:pPr>
            <a:r>
              <a:t>• Interactive Loan Tenure Slider: Real-time slider from 5 to 30 years with instantaneous monthly EMI recalculation.</a:t>
            </a:r>
          </a:p>
          <a:p>
            <a:pPr>
              <a:spcAft>
                <a:spcPts val="400"/>
              </a:spcAft>
              <a:defRPr sz="1150">
                <a:solidFill>
                  <a:srgbClr val="111827"/>
                </a:solidFill>
              </a:defRPr>
            </a:pPr>
            <a:r>
              <a:t>• Standardized Bank Interest Benchmark: Calculated at benchmark 8.50% annual interest rate.</a:t>
            </a:r>
          </a:p>
          <a:p>
            <a:pPr>
              <a:spcAft>
                <a:spcPts val="400"/>
              </a:spcAft>
              <a:defRPr sz="1150">
                <a:solidFill>
                  <a:srgbClr val="111827"/>
                </a:solidFill>
              </a:defRPr>
            </a:pPr>
            <a:r>
              <a:t>• Direct Pre-Filled Route: 'Check Instant Loan Eligibility' link automatically transfers loan amount to `loans.html`.</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Social Sharing &amp; Printable Brochure</a:t>
            </a:r>
          </a:p>
          <a:p>
            <a:pPr>
              <a:spcAft>
                <a:spcPts val="600"/>
              </a:spcAft>
              <a:defRPr sz="950" b="1">
                <a:solidFill>
                  <a:srgbClr val="F59E0B"/>
                </a:solidFill>
              </a:defRPr>
            </a:pPr>
            <a:r>
              <a:t>COLLABORATIVE TOOLS</a:t>
            </a:r>
          </a:p>
          <a:p>
            <a:pPr>
              <a:spcAft>
                <a:spcPts val="400"/>
              </a:spcAft>
              <a:defRPr sz="1150">
                <a:solidFill>
                  <a:srgbClr val="111827"/>
                </a:solidFill>
              </a:defRPr>
            </a:pPr>
            <a:r>
              <a:t>• 1-Click WhatsApp Property Share: Generates formatted text with property title, price, city, and direct web link.</a:t>
            </a:r>
          </a:p>
          <a:p>
            <a:pPr>
              <a:spcAft>
                <a:spcPts val="400"/>
              </a:spcAft>
              <a:defRPr sz="1150">
                <a:solidFill>
                  <a:srgbClr val="111827"/>
                </a:solidFill>
              </a:defRPr>
            </a:pPr>
            <a:r>
              <a:t>• Clipboard Copy Link: Copies direct search URL with instant toast notification confirmation.</a:t>
            </a:r>
          </a:p>
          <a:p>
            <a:pPr>
              <a:spcAft>
                <a:spcPts val="400"/>
              </a:spcAft>
              <a:defRPr sz="1150">
                <a:solidFill>
                  <a:srgbClr val="111827"/>
                </a:solidFill>
              </a:defRPr>
            </a:pPr>
            <a:r>
              <a:t>• Print / PDF Brochure Generator: Uses CSS `@media print` rules to produce clean, high-resolution printable property brochures.</a:t>
            </a:r>
          </a:p>
          <a:p>
            <a:pPr>
              <a:spcAft>
                <a:spcPts val="400"/>
              </a:spcAft>
              <a:defRPr sz="1150">
                <a:solidFill>
                  <a:srgbClr val="111827"/>
                </a:solidFill>
              </a:defRPr>
            </a:pPr>
            <a:r>
              <a:t>• Free Site Visit Scheduler: Integrated form for customer name, mobile, email, and preferred tour date.</a:t>
            </a:r>
          </a:p>
          <a:p>
            <a:pPr>
              <a:spcAft>
                <a:spcPts val="400"/>
              </a:spcAft>
              <a:defRPr sz="1150">
                <a:solidFill>
                  <a:srgbClr val="111827"/>
                </a:solidFill>
              </a:defRPr>
            </a:pPr>
            <a:r>
              <a:t>• Lead Ingestion API: Submits inquiries straight to backend SQLite database.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PROPERTY INGESTION</a:t>
            </a:r>
          </a:p>
          <a:p>
            <a:pPr>
              <a:defRPr sz="2200" b="1">
                <a:solidFill>
                  <a:srgbClr val="FFFFFF"/>
                </a:solidFill>
              </a:defRPr>
            </a:pPr>
            <a:r>
              <a:t>Module 7: Sell &amp; List Property Wizard (`sell.html`)</a:t>
            </a:r>
          </a:p>
          <a:p>
            <a:pPr>
              <a:defRPr sz="1100">
                <a:solidFill>
                  <a:srgbClr val="D1FAE5"/>
                </a:solidFill>
              </a:defRPr>
            </a:pPr>
            <a:r>
              <a:t>Streamlined listing submission wizard for owners and licensed agents</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Multi-Step Submission Wizard</a:t>
            </a:r>
          </a:p>
          <a:p>
            <a:pPr>
              <a:spcAft>
                <a:spcPts val="600"/>
              </a:spcAft>
              <a:defRPr sz="950" b="1">
                <a:solidFill>
                  <a:srgbClr val="F59E0B"/>
                </a:solidFill>
              </a:defRPr>
            </a:pPr>
            <a:r>
              <a:t>LISTING WORKFLOW</a:t>
            </a:r>
          </a:p>
          <a:p>
            <a:pPr>
              <a:spcAft>
                <a:spcPts val="400"/>
              </a:spcAft>
              <a:defRPr sz="1150">
                <a:solidFill>
                  <a:srgbClr val="111827"/>
                </a:solidFill>
              </a:defRPr>
            </a:pPr>
            <a:r>
              <a:t>• Step 1 - Basic Information: Property title, listing type (Buy / Rent / Commercial), and category (Villa / Apartment / Penthouse).</a:t>
            </a:r>
          </a:p>
          <a:p>
            <a:pPr>
              <a:spcAft>
                <a:spcPts val="400"/>
              </a:spcAft>
              <a:defRPr sz="1150">
                <a:solidFill>
                  <a:srgbClr val="111827"/>
                </a:solidFill>
              </a:defRPr>
            </a:pPr>
            <a:r>
              <a:t>• Step 2 - Pricing &amp; Location: Numeric price in INR, address, city, and state.</a:t>
            </a:r>
          </a:p>
          <a:p>
            <a:pPr>
              <a:spcAft>
                <a:spcPts val="400"/>
              </a:spcAft>
              <a:defRPr sz="1150">
                <a:solidFill>
                  <a:srgbClr val="111827"/>
                </a:solidFill>
              </a:defRPr>
            </a:pPr>
            <a:r>
              <a:t>• Step 3 - Property Specs: Bedrooms, bathrooms, carpet area in square feet, and furnishing status.</a:t>
            </a:r>
          </a:p>
          <a:p>
            <a:pPr>
              <a:spcAft>
                <a:spcPts val="400"/>
              </a:spcAft>
              <a:defRPr sz="1150">
                <a:solidFill>
                  <a:srgbClr val="111827"/>
                </a:solidFill>
              </a:defRPr>
            </a:pPr>
            <a:r>
              <a:t>• Step 4 - Amenities &amp; Overview: Multi-select amenity chips and detailed description text.</a:t>
            </a:r>
          </a:p>
          <a:p>
            <a:pPr>
              <a:spcAft>
                <a:spcPts val="400"/>
              </a:spcAft>
              <a:defRPr sz="1150">
                <a:solidFill>
                  <a:srgbClr val="111827"/>
                </a:solidFill>
              </a:defRPr>
            </a:pPr>
            <a:r>
              <a:t>• Step 5 - Media Upload: Local file upload via Multer or direct image URL input.</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Automated Processing &amp; Persistence</a:t>
            </a:r>
          </a:p>
          <a:p>
            <a:pPr>
              <a:spcAft>
                <a:spcPts val="600"/>
              </a:spcAft>
              <a:defRPr sz="950" b="1">
                <a:solidFill>
                  <a:srgbClr val="F59E0B"/>
                </a:solidFill>
              </a:defRPr>
            </a:pPr>
            <a:r>
              <a:t>BACKEND PROCESSING</a:t>
            </a:r>
          </a:p>
          <a:p>
            <a:pPr>
              <a:spcAft>
                <a:spcPts val="400"/>
              </a:spcAft>
              <a:defRPr sz="1150">
                <a:solidFill>
                  <a:srgbClr val="111827"/>
                </a:solidFill>
              </a:defRPr>
            </a:pPr>
            <a:r>
              <a:t>• Indian Currency Formatter: Automatically converts numeric prices into standard Indian formats (e.g. ₹1.25 Cr or ₹85 Lakh).</a:t>
            </a:r>
          </a:p>
          <a:p>
            <a:pPr>
              <a:spcAft>
                <a:spcPts val="400"/>
              </a:spcAft>
              <a:defRPr sz="1150">
                <a:solidFill>
                  <a:srgbClr val="111827"/>
                </a:solidFill>
              </a:defRPr>
            </a:pPr>
            <a:r>
              <a:t>• Initial AI Scoring Engine: Generates baseline AI Match % (90-97%) and Location Scores (8.8-9.8/10).</a:t>
            </a:r>
          </a:p>
          <a:p>
            <a:pPr>
              <a:spcAft>
                <a:spcPts val="400"/>
              </a:spcAft>
              <a:defRPr sz="1150">
                <a:solidFill>
                  <a:srgbClr val="111827"/>
                </a:solidFill>
              </a:defRPr>
            </a:pPr>
            <a:r>
              <a:t>• Multer Disk Storage: Renames uploaded files with unique timestamps and stores them in `/public/uploads/`.</a:t>
            </a:r>
          </a:p>
          <a:p>
            <a:pPr>
              <a:spcAft>
                <a:spcPts val="400"/>
              </a:spcAft>
              <a:defRPr sz="1150">
                <a:solidFill>
                  <a:srgbClr val="111827"/>
                </a:solidFill>
              </a:defRPr>
            </a:pPr>
            <a:r>
              <a:t>• Instant Database Ingestion: Immediately stored in SQLite `properties` table with `is_verified = 1`.</a:t>
            </a:r>
          </a:p>
          <a:p>
            <a:pPr>
              <a:spcAft>
                <a:spcPts val="400"/>
              </a:spcAft>
              <a:defRPr sz="1150">
                <a:solidFill>
                  <a:srgbClr val="111827"/>
                </a:solidFill>
              </a:defRPr>
            </a:pPr>
            <a:r>
              <a:t>• Instant Marketplace Availability: Newly listed property appears in search and filter queries immediately.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DESIGN &amp; BUILD</a:t>
            </a:r>
          </a:p>
          <a:p>
            <a:pPr>
              <a:defRPr sz="2200" b="1">
                <a:solidFill>
                  <a:srgbClr val="FFFFFF"/>
                </a:solidFill>
              </a:defRPr>
            </a:pPr>
            <a:r>
              <a:t>Module 8: Architecture &amp; Design Studio (`design.html`, `house-plans.html`)</a:t>
            </a:r>
          </a:p>
          <a:p>
            <a:pPr>
              <a:defRPr sz="1100">
                <a:solidFill>
                  <a:srgbClr val="D1FAE5"/>
                </a:solidFill>
              </a:defRPr>
            </a:pPr>
            <a:r>
              <a:t>Pre-construction architectural visualization and cost estimation</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5 Core Architectural Services</a:t>
            </a:r>
          </a:p>
          <a:p>
            <a:pPr>
              <a:spcAft>
                <a:spcPts val="600"/>
              </a:spcAft>
              <a:defRPr sz="950" b="1">
                <a:solidFill>
                  <a:srgbClr val="F59E0B"/>
                </a:solidFill>
              </a:defRPr>
            </a:pPr>
            <a:r>
              <a:t>DESIGN STUDIO SERVICES</a:t>
            </a:r>
          </a:p>
          <a:p>
            <a:pPr>
              <a:spcAft>
                <a:spcPts val="400"/>
              </a:spcAft>
              <a:defRPr sz="1150">
                <a:solidFill>
                  <a:srgbClr val="111827"/>
                </a:solidFill>
              </a:defRPr>
            </a:pPr>
            <a:r>
              <a:t>• 1. Interior Design: Modular kitchen planning, living spaces, and luxury master bedroom suites.</a:t>
            </a:r>
          </a:p>
          <a:p>
            <a:pPr>
              <a:spcAft>
                <a:spcPts val="400"/>
              </a:spcAft>
              <a:defRPr sz="1150">
                <a:solidFill>
                  <a:srgbClr val="111827"/>
                </a:solidFill>
              </a:defRPr>
            </a:pPr>
            <a:r>
              <a:t>• 2. 2D Floor Plans: Structural blueprints with exact room dimensions and Vastu zoning.</a:t>
            </a:r>
          </a:p>
          <a:p>
            <a:pPr>
              <a:spcAft>
                <a:spcPts val="400"/>
              </a:spcAft>
              <a:defRPr sz="1150">
                <a:solidFill>
                  <a:srgbClr val="111827"/>
                </a:solidFill>
              </a:defRPr>
            </a:pPr>
            <a:r>
              <a:t>• 3. 3D Elevation Designs: Modern facade visualization, texture mapping, and lighting simulation.</a:t>
            </a:r>
          </a:p>
          <a:p>
            <a:pPr>
              <a:spcAft>
                <a:spcPts val="400"/>
              </a:spcAft>
              <a:defRPr sz="1150">
                <a:solidFill>
                  <a:srgbClr val="111827"/>
                </a:solidFill>
              </a:defRPr>
            </a:pPr>
            <a:r>
              <a:t>• 4. 3D House Layouts: Realistic isometric renderings of fully furnished floor layouts.</a:t>
            </a:r>
          </a:p>
          <a:p>
            <a:pPr>
              <a:spcAft>
                <a:spcPts val="400"/>
              </a:spcAft>
              <a:defRPr sz="1150">
                <a:solidFill>
                  <a:srgbClr val="111827"/>
                </a:solidFill>
              </a:defRPr>
            </a:pPr>
            <a:r>
              <a:t>• 5. Vastu Consultation: Ancient spatial orientation principles combined with modern ergonomics.</a:t>
            </a:r>
          </a:p>
          <a:p>
            <a:pPr>
              <a:spcAft>
                <a:spcPts val="400"/>
              </a:spcAft>
              <a:defRPr sz="1150">
                <a:solidFill>
                  <a:srgbClr val="111827"/>
                </a:solidFill>
              </a:defRPr>
            </a:pPr>
            <a:r>
              <a:t>• House Plans Catalog: Pre-engineered 2D/3D plans categorized by 1BHK, 2BHK, 3BHK, and 4BHK.</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Interactive Design Cost Estimator</a:t>
            </a:r>
          </a:p>
          <a:p>
            <a:pPr>
              <a:spcAft>
                <a:spcPts val="600"/>
              </a:spcAft>
              <a:defRPr sz="950" b="1">
                <a:solidFill>
                  <a:srgbClr val="F59E0B"/>
                </a:solidFill>
              </a:defRPr>
            </a:pPr>
            <a:r>
              <a:t>BUDGET ESTIMATION</a:t>
            </a:r>
          </a:p>
          <a:p>
            <a:pPr>
              <a:spcAft>
                <a:spcPts val="400"/>
              </a:spcAft>
              <a:defRPr sz="1150">
                <a:solidFill>
                  <a:srgbClr val="111827"/>
                </a:solidFill>
              </a:defRPr>
            </a:pPr>
            <a:r>
              <a:t>• Real-Time Estimation Logic: Calculates projected design budget based on square footage and configuration tier.</a:t>
            </a:r>
          </a:p>
          <a:p>
            <a:pPr>
              <a:spcAft>
                <a:spcPts val="400"/>
              </a:spcAft>
              <a:defRPr sz="1150">
                <a:solidFill>
                  <a:srgbClr val="111827"/>
                </a:solidFill>
              </a:defRPr>
            </a:pPr>
            <a:r>
              <a:t>• Scope Customization: Toggle between Essentials, Premium, and Luxury design finishes.</a:t>
            </a:r>
          </a:p>
          <a:p>
            <a:pPr>
              <a:spcAft>
                <a:spcPts val="400"/>
              </a:spcAft>
              <a:defRPr sz="1150">
                <a:solidFill>
                  <a:srgbClr val="111827"/>
                </a:solidFill>
              </a:defRPr>
            </a:pPr>
            <a:r>
              <a:t>• Online Consultation Request: Client inquiry form capturing service needed, property area, and budget range.</a:t>
            </a:r>
          </a:p>
          <a:p>
            <a:pPr>
              <a:spcAft>
                <a:spcPts val="400"/>
              </a:spcAft>
              <a:defRPr sz="1150">
                <a:solidFill>
                  <a:srgbClr val="111827"/>
                </a:solidFill>
              </a:defRPr>
            </a:pPr>
            <a:r>
              <a:t>• Direct Database Sync: Saves design inquiries into `design_requests` SQLite table.</a:t>
            </a:r>
          </a:p>
          <a:p>
            <a:pPr>
              <a:spcAft>
                <a:spcPts val="400"/>
              </a:spcAft>
              <a:defRPr sz="1150">
                <a:solidFill>
                  <a:srgbClr val="111827"/>
                </a:solidFill>
              </a:defRPr>
            </a:pPr>
            <a:r>
              <a:t>• Admin Pipeline Integration: Appears immediately in the Admin Control Center for architectural assignment.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FINANCING HUB</a:t>
            </a:r>
          </a:p>
          <a:p>
            <a:pPr>
              <a:defRPr sz="2200" b="1">
                <a:solidFill>
                  <a:srgbClr val="FFFFFF"/>
                </a:solidFill>
              </a:defRPr>
            </a:pPr>
            <a:r>
              <a:t>Module 9: Home Loans &amp; Financial Assistance (`loans.html`)</a:t>
            </a:r>
          </a:p>
          <a:p>
            <a:pPr>
              <a:defRPr sz="1100">
                <a:solidFill>
                  <a:srgbClr val="D1FAE5"/>
                </a:solidFill>
              </a:defRPr>
            </a:pPr>
            <a:r>
              <a:t>Dynamic mortgage calculator and instant pre-approval workflow</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Dynamic EMI &amp; Amortization Calculator</a:t>
            </a:r>
          </a:p>
          <a:p>
            <a:pPr>
              <a:spcAft>
                <a:spcPts val="600"/>
              </a:spcAft>
              <a:defRPr sz="950" b="1">
                <a:solidFill>
                  <a:srgbClr val="F59E0B"/>
                </a:solidFill>
              </a:defRPr>
            </a:pPr>
            <a:r>
              <a:t>CALCULATOR ENGINE</a:t>
            </a:r>
          </a:p>
          <a:p>
            <a:pPr>
              <a:spcAft>
                <a:spcPts val="400"/>
              </a:spcAft>
              <a:defRPr sz="1150">
                <a:solidFill>
                  <a:srgbClr val="111827"/>
                </a:solidFill>
              </a:defRPr>
            </a:pPr>
            <a:r>
              <a:t>• Real-Time Interactive Sliders:</a:t>
            </a:r>
          </a:p>
          <a:p>
            <a:pPr>
              <a:spcAft>
                <a:spcPts val="400"/>
              </a:spcAft>
              <a:defRPr sz="1150">
                <a:solidFill>
                  <a:srgbClr val="111827"/>
                </a:solidFill>
              </a:defRPr>
            </a:pPr>
            <a:r>
              <a:t>•   • Loan Principal: ₹10 Lakh to ₹5 Crore</a:t>
            </a:r>
          </a:p>
          <a:p>
            <a:pPr>
              <a:spcAft>
                <a:spcPts val="400"/>
              </a:spcAft>
              <a:defRPr sz="1150">
                <a:solidFill>
                  <a:srgbClr val="111827"/>
                </a:solidFill>
              </a:defRPr>
            </a:pPr>
            <a:r>
              <a:t>•   • Annual Interest Rate: 7.50% to 12.00%</a:t>
            </a:r>
          </a:p>
          <a:p>
            <a:pPr>
              <a:spcAft>
                <a:spcPts val="400"/>
              </a:spcAft>
              <a:defRPr sz="1150">
                <a:solidFill>
                  <a:srgbClr val="111827"/>
                </a:solidFill>
              </a:defRPr>
            </a:pPr>
            <a:r>
              <a:t>•   • Loan Tenure: 5 Years to 30 Years</a:t>
            </a:r>
          </a:p>
          <a:p>
            <a:pPr>
              <a:spcAft>
                <a:spcPts val="400"/>
              </a:spcAft>
              <a:defRPr sz="1150">
                <a:solidFill>
                  <a:srgbClr val="111827"/>
                </a:solidFill>
              </a:defRPr>
            </a:pPr>
            <a:r>
              <a:t>• Mathematical Precision Formula: Uses standard compound amortization formula `P * r * (1+r)^n / ((1+r)^n - 1)`.</a:t>
            </a:r>
          </a:p>
          <a:p>
            <a:pPr>
              <a:spcAft>
                <a:spcPts val="400"/>
              </a:spcAft>
              <a:defRPr sz="1150">
                <a:solidFill>
                  <a:srgbClr val="111827"/>
                </a:solidFill>
              </a:defRPr>
            </a:pPr>
            <a:r>
              <a:t>• Visual Proportion Bar: Dynamic two-color breakdown displaying Principal vs Total Interest payable.</a:t>
            </a:r>
          </a:p>
          <a:p>
            <a:pPr>
              <a:spcAft>
                <a:spcPts val="400"/>
              </a:spcAft>
              <a:defRPr sz="1150">
                <a:solidFill>
                  <a:srgbClr val="111827"/>
                </a:solidFill>
              </a:defRPr>
            </a:pPr>
            <a:r>
              <a:t>• Bank Interest Rate Comparison Table: Live comparison across HDFC (8.40%), SBI (8.50%), ICICI (8.60%), Axis (8.75%).</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Digital Mortgage KYC &amp; Pre-Approval</a:t>
            </a:r>
          </a:p>
          <a:p>
            <a:pPr>
              <a:spcAft>
                <a:spcPts val="600"/>
              </a:spcAft>
              <a:defRPr sz="950" b="1">
                <a:solidFill>
                  <a:srgbClr val="F59E0B"/>
                </a:solidFill>
              </a:defRPr>
            </a:pPr>
            <a:r>
              <a:t>INSTANT PRE-APPROVAL</a:t>
            </a:r>
          </a:p>
          <a:p>
            <a:pPr>
              <a:spcAft>
                <a:spcPts val="400"/>
              </a:spcAft>
              <a:defRPr sz="1150">
                <a:solidFill>
                  <a:srgbClr val="111827"/>
                </a:solidFill>
              </a:defRPr>
            </a:pPr>
            <a:r>
              <a:t>• 4-Step Digital Application Form: Gathers borrower income, contact details, loan amount, and bank preference.</a:t>
            </a:r>
          </a:p>
          <a:p>
            <a:pPr>
              <a:spcAft>
                <a:spcPts val="400"/>
              </a:spcAft>
              <a:defRPr sz="1150">
                <a:solidFill>
                  <a:srgbClr val="111827"/>
                </a:solidFill>
              </a:defRPr>
            </a:pPr>
            <a:r>
              <a:t>• Automated Underwriting Algorithm: Evaluates monthly income against loan amount (Max Eligible = Monthly Income * 60).</a:t>
            </a:r>
          </a:p>
          <a:p>
            <a:pPr>
              <a:spcAft>
                <a:spcPts val="400"/>
              </a:spcAft>
              <a:defRPr sz="1150">
                <a:solidFill>
                  <a:srgbClr val="111827"/>
                </a:solidFill>
              </a:defRPr>
            </a:pPr>
            <a:r>
              <a:t>• Instant Digital Pre-Approval Letter: Immediately displays eligibility status and pre-approved reference number (`XP-LN-###`).</a:t>
            </a:r>
          </a:p>
          <a:p>
            <a:pPr>
              <a:spcAft>
                <a:spcPts val="400"/>
              </a:spcAft>
              <a:defRPr sz="1150">
                <a:solidFill>
                  <a:srgbClr val="111827"/>
                </a:solidFill>
              </a:defRPr>
            </a:pPr>
            <a:r>
              <a:t>• Relationship Manager Routing: Notifies preferred lending partner for document collection.</a:t>
            </a:r>
          </a:p>
          <a:p>
            <a:pPr>
              <a:spcAft>
                <a:spcPts val="400"/>
              </a:spcAft>
              <a:defRPr sz="1150">
                <a:solidFill>
                  <a:srgbClr val="111827"/>
                </a:solidFill>
              </a:defRPr>
            </a:pPr>
            <a:r>
              <a:t>• Admin Review Pipeline: Instantly populated in admin dashboard for review.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OPERATIONS HUB</a:t>
            </a:r>
          </a:p>
          <a:p>
            <a:pPr>
              <a:defRPr sz="2200" b="1">
                <a:solidFill>
                  <a:srgbClr val="FFFFFF"/>
                </a:solidFill>
              </a:defRPr>
            </a:pPr>
            <a:r>
              <a:t>Module 10: Admin Operations &amp; Control Center (`admin.html`)</a:t>
            </a:r>
          </a:p>
          <a:p>
            <a:pPr>
              <a:defRPr sz="1100">
                <a:solidFill>
                  <a:srgbClr val="D1FAE5"/>
                </a:solidFill>
              </a:defRPr>
            </a:pPr>
            <a:r>
              <a:t>Unified operational control over listings, customer leads, and financing pipelines</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KPI Platform Metrics Dashboard</a:t>
            </a:r>
          </a:p>
          <a:p>
            <a:pPr>
              <a:spcAft>
                <a:spcPts val="600"/>
              </a:spcAft>
              <a:defRPr sz="950" b="1">
                <a:solidFill>
                  <a:srgbClr val="F59E0B"/>
                </a:solidFill>
              </a:defRPr>
            </a:pPr>
            <a:r>
              <a:t>OPERATIONAL TELEMETRY</a:t>
            </a:r>
          </a:p>
          <a:p>
            <a:pPr>
              <a:spcAft>
                <a:spcPts val="400"/>
              </a:spcAft>
              <a:defRPr sz="1150">
                <a:solidFill>
                  <a:srgbClr val="111827"/>
                </a:solidFill>
              </a:defRPr>
            </a:pPr>
            <a:r>
              <a:t>• Live Operational Telemetry: Instant metrics polled from `/api/admin/stats`:</a:t>
            </a:r>
          </a:p>
          <a:p>
            <a:pPr>
              <a:spcAft>
                <a:spcPts val="400"/>
              </a:spcAft>
              <a:defRPr sz="1150">
                <a:solidFill>
                  <a:srgbClr val="111827"/>
                </a:solidFill>
              </a:defRPr>
            </a:pPr>
            <a:r>
              <a:t>•   • Total Active Properties</a:t>
            </a:r>
          </a:p>
          <a:p>
            <a:pPr>
              <a:spcAft>
                <a:spcPts val="400"/>
              </a:spcAft>
              <a:defRPr sz="1150">
                <a:solidFill>
                  <a:srgbClr val="111827"/>
                </a:solidFill>
              </a:defRPr>
            </a:pPr>
            <a:r>
              <a:t>•   • Total Registered Accounts</a:t>
            </a:r>
          </a:p>
          <a:p>
            <a:pPr>
              <a:spcAft>
                <a:spcPts val="400"/>
              </a:spcAft>
              <a:defRPr sz="1150">
                <a:solidFill>
                  <a:srgbClr val="111827"/>
                </a:solidFill>
              </a:defRPr>
            </a:pPr>
            <a:r>
              <a:t>•   • Total Site Visit Inquiries</a:t>
            </a:r>
          </a:p>
          <a:p>
            <a:pPr>
              <a:spcAft>
                <a:spcPts val="400"/>
              </a:spcAft>
              <a:defRPr sz="1150">
                <a:solidFill>
                  <a:srgbClr val="111827"/>
                </a:solidFill>
              </a:defRPr>
            </a:pPr>
            <a:r>
              <a:t>•   • Total Home Loan Applications</a:t>
            </a:r>
          </a:p>
          <a:p>
            <a:pPr>
              <a:spcAft>
                <a:spcPts val="400"/>
              </a:spcAft>
              <a:defRPr sz="1150">
                <a:solidFill>
                  <a:srgbClr val="111827"/>
                </a:solidFill>
              </a:defRPr>
            </a:pPr>
            <a:r>
              <a:t>•   • Total Design Consultation Requests (NEW 5th Metric)</a:t>
            </a:r>
          </a:p>
          <a:p>
            <a:pPr>
              <a:spcAft>
                <a:spcPts val="400"/>
              </a:spcAft>
              <a:defRPr sz="1150">
                <a:solidFill>
                  <a:srgbClr val="111827"/>
                </a:solidFill>
              </a:defRPr>
            </a:pPr>
            <a:r>
              <a:t>• Listing Inventory Management: Full preview and 1-click deletion of verified property listings with confirmation safeguards.</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Lead Management &amp; Status Updating</a:t>
            </a:r>
          </a:p>
          <a:p>
            <a:pPr>
              <a:spcAft>
                <a:spcPts val="600"/>
              </a:spcAft>
              <a:defRPr sz="950" b="1">
                <a:solidFill>
                  <a:srgbClr val="F59E0B"/>
                </a:solidFill>
              </a:defRPr>
            </a:pPr>
            <a:r>
              <a:t>NEW FEATURE ADDITION</a:t>
            </a:r>
          </a:p>
          <a:p>
            <a:pPr>
              <a:spcAft>
                <a:spcPts val="400"/>
              </a:spcAft>
              <a:defRPr sz="1150">
                <a:solidFill>
                  <a:srgbClr val="111827"/>
                </a:solidFill>
              </a:defRPr>
            </a:pPr>
            <a:r>
              <a:t>• Inquiries Table: Customer leads with live status dropdowns (`Pending`, `Contacted`, `Scheduled`, `Completed`).</a:t>
            </a:r>
          </a:p>
          <a:p>
            <a:pPr>
              <a:spcAft>
                <a:spcPts val="400"/>
              </a:spcAft>
              <a:defRPr sz="1150">
                <a:solidFill>
                  <a:srgbClr val="111827"/>
                </a:solidFill>
              </a:defRPr>
            </a:pPr>
            <a:r>
              <a:t>• Mortgage Applications Pipeline: Review borrower profile and update status (`Under Review`, `Pre-Approved`, `Approved`, `Rejected`).</a:t>
            </a:r>
          </a:p>
          <a:p>
            <a:pPr>
              <a:spcAft>
                <a:spcPts val="400"/>
              </a:spcAft>
              <a:defRPr sz="1150">
                <a:solidFill>
                  <a:srgbClr val="111827"/>
                </a:solidFill>
              </a:defRPr>
            </a:pPr>
            <a:r>
              <a:t>• Architecture Requests Table: Manage design leads with status updates (`Pending`, `In Progress`, `Completed`) (NEW Table).</a:t>
            </a:r>
          </a:p>
          <a:p>
            <a:pPr>
              <a:spcAft>
                <a:spcPts val="400"/>
              </a:spcAft>
              <a:defRPr sz="1150">
                <a:solidFill>
                  <a:srgbClr val="111827"/>
                </a:solidFill>
              </a:defRPr>
            </a:pPr>
            <a:r>
              <a:t>• Live Table Search Filter: Instant search input filters inquiries, loans, and design requests by customer name, phone, or status.</a:t>
            </a:r>
          </a:p>
          <a:p>
            <a:pPr>
              <a:spcAft>
                <a:spcPts val="400"/>
              </a:spcAft>
              <a:defRPr sz="1150">
                <a:solidFill>
                  <a:srgbClr val="111827"/>
                </a:solidFill>
              </a:defRPr>
            </a:pPr>
            <a:r>
              <a:t>• PATCH Status Endpoints: Real-time REST API status updates with toast feedback.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NON-FUNCTIONAL ENGINEERING</a:t>
            </a:r>
          </a:p>
          <a:p>
            <a:pPr>
              <a:defRPr sz="2200" b="1">
                <a:solidFill>
                  <a:srgbClr val="FFFFFF"/>
                </a:solidFill>
              </a:defRPr>
            </a:pPr>
            <a:r>
              <a:t>Security, Verification &amp; Data Integrity</a:t>
            </a:r>
          </a:p>
          <a:p>
            <a:pPr>
              <a:defRPr sz="1100">
                <a:solidFill>
                  <a:srgbClr val="D1FAE5"/>
                </a:solidFill>
              </a:defRPr>
            </a:pPr>
            <a:r>
              <a:t>Enterprise-grade safeguards protecting user privacy and system reliability</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Security &amp; Cryptographic Standards</a:t>
            </a:r>
          </a:p>
          <a:p>
            <a:pPr>
              <a:spcAft>
                <a:spcPts val="600"/>
              </a:spcAft>
              <a:defRPr sz="950" b="1">
                <a:solidFill>
                  <a:srgbClr val="F59E0B"/>
                </a:solidFill>
              </a:defRPr>
            </a:pPr>
            <a:r>
              <a:t>SECURITY ARCHITECTURE</a:t>
            </a:r>
          </a:p>
          <a:p>
            <a:pPr>
              <a:spcAft>
                <a:spcPts val="400"/>
              </a:spcAft>
              <a:defRPr sz="1150">
                <a:solidFill>
                  <a:srgbClr val="111827"/>
                </a:solidFill>
              </a:defRPr>
            </a:pPr>
            <a:r>
              <a:t>• Salted Password Hashing: Implements `bcryptjs` with 10 salt rounds — plaintext passwords are never stored in the database.</a:t>
            </a:r>
          </a:p>
          <a:p>
            <a:pPr>
              <a:spcAft>
                <a:spcPts val="400"/>
              </a:spcAft>
              <a:defRPr sz="1150">
                <a:solidFill>
                  <a:srgbClr val="111827"/>
                </a:solidFill>
              </a:defRPr>
            </a:pPr>
            <a:r>
              <a:t>• Stateless JWT Authentication: Secure HMAC-SHA256 signed tokens with 7-day expiration for authenticated sessions.</a:t>
            </a:r>
          </a:p>
          <a:p>
            <a:pPr>
              <a:spcAft>
                <a:spcPts val="400"/>
              </a:spcAft>
              <a:defRPr sz="1150">
                <a:solidFill>
                  <a:srgbClr val="111827"/>
                </a:solidFill>
              </a:defRPr>
            </a:pPr>
            <a:r>
              <a:t>• Role-Based Access Control (RBAC): Differentiates between 'admin' and standard 'user' permissions for administrative operations.</a:t>
            </a:r>
          </a:p>
          <a:p>
            <a:pPr>
              <a:spcAft>
                <a:spcPts val="400"/>
              </a:spcAft>
              <a:defRPr sz="1150">
                <a:solidFill>
                  <a:srgbClr val="111827"/>
                </a:solidFill>
              </a:defRPr>
            </a:pPr>
            <a:r>
              <a:t>• Anti-SQL Injection Shield: 100% of database queries utilize parameterized SQL query placeholders (`?`) preventing SQL injection.</a:t>
            </a:r>
          </a:p>
          <a:p>
            <a:pPr>
              <a:spcAft>
                <a:spcPts val="400"/>
              </a:spcAft>
              <a:defRPr sz="1150">
                <a:solidFill>
                  <a:srgbClr val="111827"/>
                </a:solidFill>
              </a:defRPr>
            </a:pPr>
            <a:r>
              <a:t>• Input Sanitization: All HTML rendering utilizes `escapeHtml()` utility to prevent Cross-Site Scripting (XSS) attacks.</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Reliability &amp; Performance Metrics</a:t>
            </a:r>
          </a:p>
          <a:p>
            <a:pPr>
              <a:spcAft>
                <a:spcPts val="600"/>
              </a:spcAft>
              <a:defRPr sz="950" b="1">
                <a:solidFill>
                  <a:srgbClr val="F59E0B"/>
                </a:solidFill>
              </a:defRPr>
            </a:pPr>
            <a:r>
              <a:t>RELIABILITY METRICS</a:t>
            </a:r>
          </a:p>
          <a:p>
            <a:pPr>
              <a:spcAft>
                <a:spcPts val="400"/>
              </a:spcAft>
              <a:defRPr sz="1150">
                <a:solidFill>
                  <a:srgbClr val="111827"/>
                </a:solidFill>
              </a:defRPr>
            </a:pPr>
            <a:r>
              <a:t>• Lightweight Runtime Footprint: Zero frontend framework overhead ensures DOM initialization under 150ms.</a:t>
            </a:r>
          </a:p>
          <a:p>
            <a:pPr>
              <a:spcAft>
                <a:spcPts val="400"/>
              </a:spcAft>
              <a:defRPr sz="1150">
                <a:solidFill>
                  <a:srgbClr val="111827"/>
                </a:solidFill>
              </a:defRPr>
            </a:pPr>
            <a:r>
              <a:t>• Embedded Zero-Configuration SQLite: ACID-compliant transactional persistence without third-party daemon dependencies.</a:t>
            </a:r>
          </a:p>
          <a:p>
            <a:pPr>
              <a:spcAft>
                <a:spcPts val="400"/>
              </a:spcAft>
              <a:defRPr sz="1150">
                <a:solidFill>
                  <a:srgbClr val="111827"/>
                </a:solidFill>
              </a:defRPr>
            </a:pPr>
            <a:r>
              <a:t>• Multer Disk Storage Limits: Enforces 10MB maximum file size constraints and mime-type validations on image uploads.</a:t>
            </a:r>
          </a:p>
          <a:p>
            <a:pPr>
              <a:spcAft>
                <a:spcPts val="400"/>
              </a:spcAft>
              <a:defRPr sz="1150">
                <a:solidFill>
                  <a:srgbClr val="111827"/>
                </a:solidFill>
              </a:defRPr>
            </a:pPr>
            <a:r>
              <a:t>• Graceful Fallback Routing: Single-page application handler serves fallback routes cleanly.</a:t>
            </a:r>
          </a:p>
          <a:p>
            <a:pPr>
              <a:spcAft>
                <a:spcPts val="400"/>
              </a:spcAft>
              <a:defRPr sz="1150">
                <a:solidFill>
                  <a:srgbClr val="111827"/>
                </a:solidFill>
              </a:defRPr>
            </a:pPr>
            <a:r>
              <a:t>• CORS Protection: Cross-Origin Resource Sharing middleware enabled for safe API consumption.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QUALITY ASSURANCE</a:t>
            </a:r>
          </a:p>
          <a:p>
            <a:pPr>
              <a:defRPr sz="2200" b="1">
                <a:solidFill>
                  <a:srgbClr val="FFFFFF"/>
                </a:solidFill>
              </a:defRPr>
            </a:pPr>
            <a:r>
              <a:t>Automated Testing &amp; System Verification</a:t>
            </a:r>
          </a:p>
          <a:p>
            <a:pPr>
              <a:defRPr sz="1100">
                <a:solidFill>
                  <a:srgbClr val="D1FAE5"/>
                </a:solidFill>
              </a:defRPr>
            </a:pPr>
            <a:r>
              <a:t>Rigorous automated test suite proving end-to-end reliability</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Automated Regression Test Suite (`test.js`)</a:t>
            </a:r>
          </a:p>
          <a:p>
            <a:pPr>
              <a:spcAft>
                <a:spcPts val="600"/>
              </a:spcAft>
              <a:defRPr sz="950" b="1">
                <a:solidFill>
                  <a:srgbClr val="F59E0B"/>
                </a:solidFill>
              </a:defRPr>
            </a:pPr>
            <a:r>
              <a:t>CORE TEST SUITE: 100% PASS</a:t>
            </a:r>
          </a:p>
          <a:p>
            <a:pPr>
              <a:spcAft>
                <a:spcPts val="400"/>
              </a:spcAft>
              <a:defRPr sz="1150">
                <a:solidFill>
                  <a:srgbClr val="111827"/>
                </a:solidFill>
              </a:defRPr>
            </a:pPr>
            <a:r>
              <a:t>• Test 1 - Homepage HTTP Status: Validates `GET /` returns HTTP 200 OK status.</a:t>
            </a:r>
          </a:p>
          <a:p>
            <a:pPr>
              <a:spcAft>
                <a:spcPts val="400"/>
              </a:spcAft>
              <a:defRPr sz="1150">
                <a:solidFill>
                  <a:srgbClr val="111827"/>
                </a:solidFill>
              </a:defRPr>
            </a:pPr>
            <a:r>
              <a:t>• Test 2 - Property Catalog Endpoint: Validates `GET /api/properties` returns populated dataset (12 properties verified).</a:t>
            </a:r>
          </a:p>
          <a:p>
            <a:pPr>
              <a:spcAft>
                <a:spcPts val="400"/>
              </a:spcAft>
              <a:defRPr sz="1150">
                <a:solidFill>
                  <a:srgbClr val="111827"/>
                </a:solidFill>
              </a:defRPr>
            </a:pPr>
            <a:r>
              <a:t>• Test 3 - Featured Properties Endpoint: Validates `GET /api/properties/featured` returns 6 verified hero listings.</a:t>
            </a:r>
          </a:p>
          <a:p>
            <a:pPr>
              <a:spcAft>
                <a:spcPts val="400"/>
              </a:spcAft>
              <a:defRPr sz="1150">
                <a:solidFill>
                  <a:srgbClr val="111827"/>
                </a:solidFill>
              </a:defRPr>
            </a:pPr>
            <a:r>
              <a:t>• Test 4 - AI Matchmaker Natural Language NLP: Tests `POST /api/ai/chat` with Bangalore villa query and validates recommendations.</a:t>
            </a:r>
          </a:p>
          <a:p>
            <a:pPr>
              <a:spcAft>
                <a:spcPts val="400"/>
              </a:spcAft>
              <a:defRPr sz="1150">
                <a:solidFill>
                  <a:srgbClr val="111827"/>
                </a:solidFill>
              </a:defRPr>
            </a:pPr>
            <a:r>
              <a:t>• Test 5 - Authentication Pipeline: Validates `POST /api/auth/login` with demo admin credentials.</a:t>
            </a:r>
          </a:p>
          <a:p>
            <a:pPr>
              <a:spcAft>
                <a:spcPts val="400"/>
              </a:spcAft>
              <a:defRPr sz="1150">
                <a:solidFill>
                  <a:srgbClr val="111827"/>
                </a:solidFill>
              </a:defRPr>
            </a:pPr>
            <a:r>
              <a:t>• Test 6 - Loan Application &amp; Underwriting: Validates `POST /api/loans/apply` and pre-approval calculations.</a:t>
            </a:r>
          </a:p>
          <a:p>
            <a:pPr>
              <a:spcAft>
                <a:spcPts val="400"/>
              </a:spcAft>
              <a:defRPr sz="1150">
                <a:solidFill>
                  <a:srgbClr val="111827"/>
                </a:solidFill>
              </a:defRPr>
            </a:pPr>
            <a:r>
              <a:t>• Test 7 - Admin Telemetry: Validates `GET /api/admin/stats` returns accurate KPI counts.</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Enhanced Features Verification (`test_new_features.js`)</a:t>
            </a:r>
          </a:p>
          <a:p>
            <a:pPr>
              <a:spcAft>
                <a:spcPts val="600"/>
              </a:spcAft>
              <a:defRPr sz="950" b="1">
                <a:solidFill>
                  <a:srgbClr val="F59E0B"/>
                </a:solidFill>
              </a:defRPr>
            </a:pPr>
            <a:r>
              <a:t>ENHANCED SUITE: 100% PASS</a:t>
            </a:r>
          </a:p>
          <a:p>
            <a:pPr>
              <a:spcAft>
                <a:spcPts val="400"/>
              </a:spcAft>
              <a:defRPr sz="1150">
                <a:solidFill>
                  <a:srgbClr val="111827"/>
                </a:solidFill>
              </a:defRPr>
            </a:pPr>
            <a:r>
              <a:t>• Test 8 - Inquiry Ingestion &amp; Status Update: Validates `POST /api/inquiries` and `PATCH /api/inquiries/:id/status` (200 OK).</a:t>
            </a:r>
          </a:p>
          <a:p>
            <a:pPr>
              <a:spcAft>
                <a:spcPts val="400"/>
              </a:spcAft>
              <a:defRPr sz="1150">
                <a:solidFill>
                  <a:srgbClr val="111827"/>
                </a:solidFill>
              </a:defRPr>
            </a:pPr>
            <a:r>
              <a:t>• Test 9 - Design Request Lifecycle: Validates `POST /api/design/request` and `PATCH /api/design/requests/:id/status` (200 OK).</a:t>
            </a:r>
          </a:p>
          <a:p>
            <a:pPr>
              <a:spcAft>
                <a:spcPts val="400"/>
              </a:spcAft>
              <a:defRPr sz="1150">
                <a:solidFill>
                  <a:srgbClr val="111827"/>
                </a:solidFill>
              </a:defRPr>
            </a:pPr>
            <a:r>
              <a:t>• Test 10 - Loan Status Pipeline: Validates `PATCH /api/loans/:id/status` with 'Approved' status.</a:t>
            </a:r>
          </a:p>
          <a:p>
            <a:pPr>
              <a:spcAft>
                <a:spcPts val="400"/>
              </a:spcAft>
              <a:defRPr sz="1150">
                <a:solidFill>
                  <a:srgbClr val="111827"/>
                </a:solidFill>
              </a:defRPr>
            </a:pPr>
            <a:r>
              <a:t>• Test 11 - Design Requests Catalog: Validates `GET /api/design/requests` returns all client consultations.</a:t>
            </a:r>
          </a:p>
          <a:p>
            <a:pPr>
              <a:spcAft>
                <a:spcPts val="400"/>
              </a:spcAft>
              <a:defRPr sz="1150">
                <a:solidFill>
                  <a:srgbClr val="111827"/>
                </a:solidFill>
              </a:defRPr>
            </a:pPr>
            <a:r>
              <a:t>• Test 12 - Extended Admin Telemetry: Validates `totalDesignRequests` counter integration.</a:t>
            </a:r>
          </a:p>
          <a:p>
            <a:pPr>
              <a:spcAft>
                <a:spcPts val="400"/>
              </a:spcAft>
              <a:defRPr sz="1150">
                <a:solidFill>
                  <a:srgbClr val="111827"/>
                </a:solidFill>
              </a:defRPr>
            </a:pPr>
            <a:r>
              <a:t>• Zero Regressions: 100% test pass rate across both suites.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PROJECT DEMONSTRATION</a:t>
            </a:r>
          </a:p>
          <a:p>
            <a:pPr>
              <a:defRPr sz="2200" b="1">
                <a:solidFill>
                  <a:srgbClr val="FFFFFF"/>
                </a:solidFill>
              </a:defRPr>
            </a:pPr>
            <a:r>
              <a:t>Live Demo Walkthrough &amp; Demo Credentials</a:t>
            </a:r>
          </a:p>
          <a:p>
            <a:pPr>
              <a:defRPr sz="1100">
                <a:solidFill>
                  <a:srgbClr val="D1FAE5"/>
                </a:solidFill>
              </a:defRPr>
            </a:pPr>
            <a:r>
              <a:t>Step-by-step instructions for live project evaluation</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Live Demonstration Sequence (डेमो स्टेप्स)</a:t>
            </a:r>
          </a:p>
          <a:p>
            <a:pPr>
              <a:spcAft>
                <a:spcPts val="600"/>
              </a:spcAft>
              <a:defRPr sz="950" b="1">
                <a:solidFill>
                  <a:srgbClr val="F59E0B"/>
                </a:solidFill>
              </a:defRPr>
            </a:pPr>
            <a:r>
              <a:t>STEP-BY-STEP DEMO FLOW</a:t>
            </a:r>
          </a:p>
          <a:p>
            <a:pPr>
              <a:spcAft>
                <a:spcPts val="400"/>
              </a:spcAft>
              <a:defRPr sz="1150">
                <a:solidFill>
                  <a:srgbClr val="111827"/>
                </a:solidFill>
              </a:defRPr>
            </a:pPr>
            <a:r>
              <a:t>• Step 1: Start Server — Run `npm start` in terminal. Server starts on `http://localhost:3000`.</a:t>
            </a:r>
          </a:p>
          <a:p>
            <a:pPr>
              <a:spcAft>
                <a:spcPts val="400"/>
              </a:spcAft>
              <a:defRPr sz="1150">
                <a:solidFill>
                  <a:srgbClr val="111827"/>
                </a:solidFill>
              </a:defRPr>
            </a:pPr>
            <a:r>
              <a:t>• Step 2: Homepage Exploration — Point out the hero villa, floating AI cards, and search tabs.</a:t>
            </a:r>
          </a:p>
          <a:p>
            <a:pPr>
              <a:spcAft>
                <a:spcPts val="400"/>
              </a:spcAft>
              <a:defRPr sz="1150">
                <a:solidFill>
                  <a:srgbClr val="111827"/>
                </a:solidFill>
              </a:defRPr>
            </a:pPr>
            <a:r>
              <a:t>• Step 3: AI Chat Interaction — Click floating 'Ask XenAI' button and demonstrate instant property card matching.</a:t>
            </a:r>
          </a:p>
          <a:p>
            <a:pPr>
              <a:spcAft>
                <a:spcPts val="400"/>
              </a:spcAft>
              <a:defRPr sz="1150">
                <a:solidFill>
                  <a:srgbClr val="111827"/>
                </a:solidFill>
              </a:defRPr>
            </a:pPr>
            <a:r>
              <a:t>• Step 4: Marketplace &amp; Filtering — Go to `buy.html`, filter by Bangalore &amp; 3 BHK, demonstrate live search autocomplete.</a:t>
            </a:r>
          </a:p>
          <a:p>
            <a:pPr>
              <a:spcAft>
                <a:spcPts val="400"/>
              </a:spcAft>
              <a:defRPr sz="1150">
                <a:solidFill>
                  <a:srgbClr val="111827"/>
                </a:solidFill>
              </a:defRPr>
            </a:pPr>
            <a:r>
              <a:t>• Step 5: Favorites &amp; Comparison — Save 2 properties, open Favorites drawer, compare them side-by-side in comparison matrix.</a:t>
            </a:r>
          </a:p>
          <a:p>
            <a:pPr>
              <a:spcAft>
                <a:spcPts val="400"/>
              </a:spcAft>
              <a:defRPr sz="1150">
                <a:solidFill>
                  <a:srgbClr val="111827"/>
                </a:solidFill>
              </a:defRPr>
            </a:pPr>
            <a:r>
              <a:t>• Step 6: In-Modal EMI &amp; Brochure — Open modal, move EMI slider, demonstrate WhatsApp share and print brochure.</a:t>
            </a:r>
          </a:p>
          <a:p>
            <a:pPr>
              <a:spcAft>
                <a:spcPts val="400"/>
              </a:spcAft>
              <a:defRPr sz="1150">
                <a:solidFill>
                  <a:srgbClr val="111827"/>
                </a:solidFill>
              </a:defRPr>
            </a:pPr>
            <a:r>
              <a:t>• Step 7: Admin Portal — Log in as Admin, demonstrate live status update dropdowns and table search.</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Pre-Configured Demo Credentials</a:t>
            </a:r>
          </a:p>
          <a:p>
            <a:pPr>
              <a:spcAft>
                <a:spcPts val="600"/>
              </a:spcAft>
              <a:defRPr sz="950" b="1">
                <a:solidFill>
                  <a:srgbClr val="F59E0B"/>
                </a:solidFill>
              </a:defRPr>
            </a:pPr>
            <a:r>
              <a:t>DEMO CREDENTIALS</a:t>
            </a:r>
          </a:p>
          <a:p>
            <a:pPr>
              <a:spcAft>
                <a:spcPts val="400"/>
              </a:spcAft>
              <a:defRPr sz="1150">
                <a:solidFill>
                  <a:srgbClr val="111827"/>
                </a:solidFill>
              </a:defRPr>
            </a:pPr>
            <a:r>
              <a:t>• Administrator Portal Account:</a:t>
            </a:r>
          </a:p>
          <a:p>
            <a:pPr>
              <a:spcAft>
                <a:spcPts val="400"/>
              </a:spcAft>
              <a:defRPr sz="1150">
                <a:solidFill>
                  <a:srgbClr val="111827"/>
                </a:solidFill>
              </a:defRPr>
            </a:pPr>
            <a:r>
              <a:t>•   • Email: admin@xenproperty.com</a:t>
            </a:r>
          </a:p>
          <a:p>
            <a:pPr>
              <a:spcAft>
                <a:spcPts val="400"/>
              </a:spcAft>
              <a:defRPr sz="1150">
                <a:solidFill>
                  <a:srgbClr val="111827"/>
                </a:solidFill>
              </a:defRPr>
            </a:pPr>
            <a:r>
              <a:t>•   • Password: admin123</a:t>
            </a:r>
          </a:p>
          <a:p>
            <a:pPr>
              <a:spcAft>
                <a:spcPts val="400"/>
              </a:spcAft>
              <a:defRPr sz="1150">
                <a:solidFill>
                  <a:srgbClr val="111827"/>
                </a:solidFill>
              </a:defRPr>
            </a:pPr>
            <a:r>
              <a:t>•   • Permissions: Access `/admin.html`, manage listings, update lead statuses, review mortgage applications.</a:t>
            </a:r>
          </a:p>
          <a:p>
            <a:pPr>
              <a:spcAft>
                <a:spcPts val="400"/>
              </a:spcAft>
              <a:defRPr sz="1150">
                <a:solidFill>
                  <a:srgbClr val="111827"/>
                </a:solidFill>
              </a:defRPr>
            </a:pPr>
            <a:r>
              <a:t>• </a:t>
            </a:r>
          </a:p>
          <a:p>
            <a:pPr>
              <a:spcAft>
                <a:spcPts val="400"/>
              </a:spcAft>
              <a:defRPr sz="1150">
                <a:solidFill>
                  <a:srgbClr val="111827"/>
                </a:solidFill>
              </a:defRPr>
            </a:pPr>
            <a:r>
              <a:t>• Registered User Account:</a:t>
            </a:r>
          </a:p>
          <a:p>
            <a:pPr>
              <a:spcAft>
                <a:spcPts val="400"/>
              </a:spcAft>
              <a:defRPr sz="1150">
                <a:solidFill>
                  <a:srgbClr val="111827"/>
                </a:solidFill>
              </a:defRPr>
            </a:pPr>
            <a:r>
              <a:t>•   • Email: rahul@xenproperty.com</a:t>
            </a:r>
          </a:p>
          <a:p>
            <a:pPr>
              <a:spcAft>
                <a:spcPts val="400"/>
              </a:spcAft>
              <a:defRPr sz="1150">
                <a:solidFill>
                  <a:srgbClr val="111827"/>
                </a:solidFill>
              </a:defRPr>
            </a:pPr>
            <a:r>
              <a:t>•   • Password: user123</a:t>
            </a:r>
          </a:p>
          <a:p>
            <a:pPr>
              <a:spcAft>
                <a:spcPts val="400"/>
              </a:spcAft>
              <a:defRPr sz="1150">
                <a:solidFill>
                  <a:srgbClr val="111827"/>
                </a:solidFill>
              </a:defRPr>
            </a:pPr>
            <a:r>
              <a:t>•   • Permissions: Browse listings, save favorites, submit site visits, apply for home loans.</a:t>
            </a:r>
          </a:p>
          <a:p>
            <a:pPr>
              <a:spcAft>
                <a:spcPts val="400"/>
              </a:spcAft>
              <a:defRPr sz="1150">
                <a:solidFill>
                  <a:srgbClr val="111827"/>
                </a:solidFill>
              </a:defRPr>
            </a:pPr>
            <a:r>
              <a:t>• </a:t>
            </a:r>
          </a:p>
          <a:p>
            <a:pPr>
              <a:spcAft>
                <a:spcPts val="400"/>
              </a:spcAft>
              <a:defRPr sz="1150">
                <a:solidFill>
                  <a:srgbClr val="111827"/>
                </a:solidFill>
              </a:defRPr>
            </a:pPr>
            <a:r>
              <a:t>• Instant Registration: New accounts can also be registered in 5 seconds via `login.html?tab=signup`.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868680"/>
          </a:xfrm>
          <a:prstGeom prst="rect">
            <a:avLst/>
          </a:prstGeom>
          <a:noFill/>
        </p:spPr>
        <p:txBody>
          <a:bodyPr wrap="square" tIns="0" bIns="0" lIns="0" rIns="0">
            <a:spAutoFit/>
          </a:bodyPr>
          <a:lstStyle/>
          <a:p>
            <a:pPr>
              <a:defRPr sz="1000" b="1">
                <a:solidFill>
                  <a:srgbClr val="10B981"/>
                </a:solidFill>
              </a:defRPr>
            </a:pPr>
            <a:r>
              <a:t>FUTURE VISION</a:t>
            </a:r>
          </a:p>
          <a:p>
            <a:pPr>
              <a:defRPr sz="2200" b="1">
                <a:solidFill>
                  <a:srgbClr val="FFFFFF"/>
                </a:solidFill>
              </a:defRPr>
            </a:pPr>
            <a:r>
              <a:t>Future Roadmap &amp; Technical Extensions</a:t>
            </a:r>
          </a:p>
          <a:p>
            <a:pPr>
              <a:defRPr sz="1100">
                <a:solidFill>
                  <a:srgbClr val="D1FAE5"/>
                </a:solidFill>
              </a:defRPr>
            </a:pPr>
            <a:r>
              <a:t>Strategic enhancements for production commercialization</a:t>
            </a:r>
          </a:p>
        </p:txBody>
      </p:sp>
      <p:sp>
        <p:nvSpPr>
          <p:cNvPr id="4" name="Rounded Rectangle 3"/>
          <p:cNvSpPr/>
          <p:nvPr/>
        </p:nvSpPr>
        <p:spPr>
          <a:xfrm>
            <a:off x="7315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663440" cy="4480560"/>
          </a:xfrm>
          <a:prstGeom prst="rect">
            <a:avLst/>
          </a:prstGeom>
          <a:noFill/>
        </p:spPr>
        <p:txBody>
          <a:bodyPr wrap="square" tIns="0" bIns="0" lIns="0" rIns="0">
            <a:spAutoFit/>
          </a:bodyPr>
          <a:lstStyle/>
          <a:p>
            <a:pPr>
              <a:defRPr sz="1500" b="1">
                <a:solidFill>
                  <a:srgbClr val="0F5B46"/>
                </a:solidFill>
              </a:defRPr>
            </a:pPr>
            <a:r>
              <a:t>Phase 1: Immersive &amp; Geographic Enhancements</a:t>
            </a:r>
          </a:p>
          <a:p>
            <a:pPr>
              <a:spcAft>
                <a:spcPts val="600"/>
              </a:spcAft>
              <a:defRPr sz="950" b="1">
                <a:solidFill>
                  <a:srgbClr val="F59E0B"/>
                </a:solidFill>
              </a:defRPr>
            </a:pPr>
            <a:r>
              <a:t>PHASE 1 INNOVATION</a:t>
            </a:r>
          </a:p>
          <a:p>
            <a:pPr>
              <a:spcAft>
                <a:spcPts val="400"/>
              </a:spcAft>
              <a:defRPr sz="1150">
                <a:solidFill>
                  <a:srgbClr val="111827"/>
                </a:solidFill>
              </a:defRPr>
            </a:pPr>
            <a:r>
              <a:t>• WebXR 3D Virtual Tours: Interactive 360-degree virtual reality walkthroughs allowing buyers to inspect rooms with VR headsets.</a:t>
            </a:r>
          </a:p>
          <a:p>
            <a:pPr>
              <a:spcAft>
                <a:spcPts val="400"/>
              </a:spcAft>
              <a:defRPr sz="1150">
                <a:solidFill>
                  <a:srgbClr val="111827"/>
                </a:solidFill>
              </a:defRPr>
            </a:pPr>
            <a:r>
              <a:t>• Interactive GIS Mapping: Integration with Mapbox / Leaflet to display live neighborhood amenities within 2km (schools, hospitals, metro stations, tech parks).</a:t>
            </a:r>
          </a:p>
          <a:p>
            <a:pPr>
              <a:spcAft>
                <a:spcPts val="400"/>
              </a:spcAft>
              <a:defRPr sz="1150">
                <a:solidFill>
                  <a:srgbClr val="111827"/>
                </a:solidFill>
              </a:defRPr>
            </a:pPr>
            <a:r>
              <a:t>• AI Automated Valuation Model (AVM): Deep learning predictive model calculating 5-year capital appreciation forecasts based on historical registry trends.</a:t>
            </a:r>
          </a:p>
          <a:p>
            <a:pPr>
              <a:spcAft>
                <a:spcPts val="400"/>
              </a:spcAft>
              <a:defRPr sz="1150">
                <a:solidFill>
                  <a:srgbClr val="111827"/>
                </a:solidFill>
              </a:defRPr>
            </a:pPr>
            <a:r>
              <a:t>• Real-Time Chat WebSockets: Live bi-directional chat between property buyers and licensed brokers via Socket.io.</a:t>
            </a:r>
          </a:p>
        </p:txBody>
      </p:sp>
      <p:sp>
        <p:nvSpPr>
          <p:cNvPr id="6" name="Rounded Rectangle 5"/>
          <p:cNvSpPr/>
          <p:nvPr/>
        </p:nvSpPr>
        <p:spPr>
          <a:xfrm>
            <a:off x="6217920" y="1371600"/>
            <a:ext cx="5120640" cy="4846320"/>
          </a:xfrm>
          <a:prstGeom prst="roundRect">
            <a:avLst/>
          </a:prstGeom>
          <a:solidFill>
            <a:srgbClr val="FFFFFF"/>
          </a:solidFill>
          <a:ln w="19050">
            <a:solidFill>
              <a:srgbClr val="E5E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663440" cy="4480560"/>
          </a:xfrm>
          <a:prstGeom prst="rect">
            <a:avLst/>
          </a:prstGeom>
          <a:noFill/>
        </p:spPr>
        <p:txBody>
          <a:bodyPr wrap="square" tIns="0" bIns="0" lIns="0" rIns="0">
            <a:spAutoFit/>
          </a:bodyPr>
          <a:lstStyle/>
          <a:p>
            <a:pPr>
              <a:defRPr sz="1500" b="1">
                <a:solidFill>
                  <a:srgbClr val="0F5B46"/>
                </a:solidFill>
              </a:defRPr>
            </a:pPr>
            <a:r>
              <a:t>Phase 2: Fintech &amp; Enterprise Scaling</a:t>
            </a:r>
          </a:p>
          <a:p>
            <a:pPr>
              <a:spcAft>
                <a:spcPts val="600"/>
              </a:spcAft>
              <a:defRPr sz="950" b="1">
                <a:solidFill>
                  <a:srgbClr val="F59E0B"/>
                </a:solidFill>
              </a:defRPr>
            </a:pPr>
            <a:r>
              <a:t>PHASE 2 INNOVATION</a:t>
            </a:r>
          </a:p>
          <a:p>
            <a:pPr>
              <a:spcAft>
                <a:spcPts val="400"/>
              </a:spcAft>
              <a:defRPr sz="1150">
                <a:solidFill>
                  <a:srgbClr val="111827"/>
                </a:solidFill>
              </a:defRPr>
            </a:pPr>
            <a:r>
              <a:t>• Instant Token Payment Gateway: Razorpay / Stripe integration for immediate property token booking deposits.</a:t>
            </a:r>
          </a:p>
          <a:p>
            <a:pPr>
              <a:spcAft>
                <a:spcPts val="400"/>
              </a:spcAft>
              <a:defRPr sz="1150">
                <a:solidFill>
                  <a:srgbClr val="111827"/>
                </a:solidFill>
              </a:defRPr>
            </a:pPr>
            <a:r>
              <a:t>• DigiLocker KYC Verification: Instant Aadhaar &amp; PAN verification for property buyers and mortgage applicants.</a:t>
            </a:r>
          </a:p>
          <a:p>
            <a:pPr>
              <a:spcAft>
                <a:spcPts val="400"/>
              </a:spcAft>
              <a:defRPr sz="1150">
                <a:solidFill>
                  <a:srgbClr val="111827"/>
                </a:solidFill>
              </a:defRPr>
            </a:pPr>
            <a:r>
              <a:t>• Mobile App Development: Cross-platform Flutter / React Native application for iOS and Android.</a:t>
            </a:r>
          </a:p>
          <a:p>
            <a:pPr>
              <a:spcAft>
                <a:spcPts val="400"/>
              </a:spcAft>
              <a:defRPr sz="1150">
                <a:solidFill>
                  <a:srgbClr val="111827"/>
                </a:solidFill>
              </a:defRPr>
            </a:pPr>
            <a:r>
              <a:t>• Cloud Native Deployment: Containerization via Docker and deployment on AWS / Google Cloud with automated CI/CD pipelines.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10058400" cy="2011680"/>
          </a:xfrm>
          <a:prstGeom prst="rect">
            <a:avLst/>
          </a:prstGeom>
          <a:noFill/>
        </p:spPr>
        <p:txBody>
          <a:bodyPr wrap="square">
            <a:spAutoFit/>
          </a:bodyPr>
          <a:lstStyle/>
          <a:p>
            <a:pPr>
              <a:spcAft>
                <a:spcPts val="800"/>
              </a:spcAft>
              <a:defRPr sz="1200" b="1">
                <a:solidFill>
                  <a:srgbClr val="10B981"/>
                </a:solidFill>
              </a:defRPr>
            </a:pPr>
            <a:r>
              <a:t>PROJECT SUMMARY &amp; CONCLUSION</a:t>
            </a:r>
          </a:p>
          <a:p>
            <a:pPr>
              <a:defRPr sz="3600" b="1">
                <a:solidFill>
                  <a:srgbClr val="FFFFFF"/>
                </a:solidFill>
              </a:defRPr>
            </a:pPr>
            <a:r>
              <a:t>Thank You! Questions &amp; Discussion</a:t>
            </a:r>
          </a:p>
          <a:p>
            <a:pPr>
              <a:defRPr sz="1600">
                <a:solidFill>
                  <a:srgbClr val="D1FAE5"/>
                </a:solidFill>
              </a:defRPr>
            </a:pPr>
            <a:r>
              <a:t>XenProperty successfully bridges the gap between technology and modern real estate.</a:t>
            </a:r>
          </a:p>
        </p:txBody>
      </p:sp>
      <p:sp>
        <p:nvSpPr>
          <p:cNvPr id="4" name="Rounded Rectangle 3"/>
          <p:cNvSpPr/>
          <p:nvPr/>
        </p:nvSpPr>
        <p:spPr>
          <a:xfrm>
            <a:off x="1097280" y="3291840"/>
            <a:ext cx="9966960" cy="2926080"/>
          </a:xfrm>
          <a:prstGeom prst="roundRect">
            <a:avLst/>
          </a:prstGeom>
          <a:solidFill>
            <a:srgbClr val="1118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3474720"/>
            <a:ext cx="9418320" cy="2560320"/>
          </a:xfrm>
          <a:prstGeom prst="rect">
            <a:avLst/>
          </a:prstGeom>
          <a:noFill/>
        </p:spPr>
        <p:txBody>
          <a:bodyPr wrap="square">
            <a:spAutoFit/>
          </a:bodyPr>
          <a:lstStyle/>
          <a:p>
            <a:pPr>
              <a:spcAft>
                <a:spcPts val="1000"/>
              </a:spcAft>
              <a:defRPr sz="1400" b="1">
                <a:solidFill>
                  <a:srgbClr val="F59E0B"/>
                </a:solidFill>
              </a:defRPr>
            </a:pPr>
            <a:r>
              <a:t>Key Academic &amp; Engineering Learnings from this Project:</a:t>
            </a:r>
          </a:p>
          <a:p>
            <a:pPr>
              <a:spcAft>
                <a:spcPts val="400"/>
              </a:spcAft>
              <a:defRPr sz="1150">
                <a:solidFill>
                  <a:srgbClr val="FFFFFF"/>
                </a:solidFill>
              </a:defRPr>
            </a:pPr>
            <a:r>
              <a:t>✔  Full-Stack Integration: Successfully integrated Frontend (HTML5/CSS3/Vanilla JS), Backend (Node/Express), and Database (SQLite).</a:t>
            </a:r>
          </a:p>
          <a:p>
            <a:pPr>
              <a:spcAft>
                <a:spcPts val="400"/>
              </a:spcAft>
              <a:defRPr sz="1150">
                <a:solidFill>
                  <a:srgbClr val="FFFFFF"/>
                </a:solidFill>
              </a:defRPr>
            </a:pPr>
            <a:r>
              <a:t>✔  Real-World Problem Solving: Solved real estate fragmentation through AI Matchmaking, in-modal EMI calculation, and architectural tools.</a:t>
            </a:r>
          </a:p>
          <a:p>
            <a:pPr>
              <a:spcAft>
                <a:spcPts val="400"/>
              </a:spcAft>
              <a:defRPr sz="1150">
                <a:solidFill>
                  <a:srgbClr val="FFFFFF"/>
                </a:solidFill>
              </a:defRPr>
            </a:pPr>
            <a:r>
              <a:t>✔  Security Best Practices: Implemented salted Bcrypt password hashing, JWT stateless authentication, and anti-SQL injection safeguards.</a:t>
            </a:r>
          </a:p>
          <a:p>
            <a:pPr>
              <a:spcAft>
                <a:spcPts val="400"/>
              </a:spcAft>
              <a:defRPr sz="1150">
                <a:solidFill>
                  <a:srgbClr val="FFFFFF"/>
                </a:solidFill>
              </a:defRPr>
            </a:pPr>
            <a:r>
              <a:t>✔  State Management &amp; UX: Implemented client-side persistence (Favorites), floating UI docks, and comparison matrices with zero regressions.</a:t>
            </a:r>
          </a:p>
          <a:p>
            <a:pPr>
              <a:spcAft>
                <a:spcPts val="400"/>
              </a:spcAft>
              <a:defRPr sz="1150">
                <a:solidFill>
                  <a:srgbClr val="FFFFFF"/>
                </a:solidFill>
              </a:defRPr>
            </a:pPr>
            <a:r>
              <a:t>✔  Open for Questions: We invite our esteemed professors and fellow students to share their feedback and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